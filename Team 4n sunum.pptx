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ntonio" panose="020B0604020202020204" charset="-94"/>
      <p:regular r:id="rId20"/>
    </p:embeddedFont>
    <p:embeddedFont>
      <p:font typeface="Forum"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68315" y="1510284"/>
            <a:ext cx="2160989" cy="2160989"/>
          </a:xfrm>
          <a:custGeom>
            <a:avLst/>
            <a:gdLst/>
            <a:ahLst/>
            <a:cxnLst/>
            <a:rect l="l" t="t" r="r" b="b"/>
            <a:pathLst>
              <a:path w="2160989" h="2160989">
                <a:moveTo>
                  <a:pt x="0" y="0"/>
                </a:moveTo>
                <a:lnTo>
                  <a:pt x="2160990" y="0"/>
                </a:lnTo>
                <a:lnTo>
                  <a:pt x="2160990" y="2160990"/>
                </a:lnTo>
                <a:lnTo>
                  <a:pt x="0" y="2160990"/>
                </a:lnTo>
                <a:lnTo>
                  <a:pt x="0" y="0"/>
                </a:lnTo>
                <a:close/>
              </a:path>
            </a:pathLst>
          </a:custGeom>
          <a:blipFill>
            <a:blip r:embed="rId2"/>
            <a:stretch>
              <a:fillRect/>
            </a:stretch>
          </a:blipFill>
        </p:spPr>
        <p:txBody>
          <a:bodyPr/>
          <a:lstStyle/>
          <a:p>
            <a:endParaRPr lang="tr-TR"/>
          </a:p>
        </p:txBody>
      </p:sp>
      <p:sp>
        <p:nvSpPr>
          <p:cNvPr id="3" name="TextBox 3"/>
          <p:cNvSpPr txBox="1"/>
          <p:nvPr/>
        </p:nvSpPr>
        <p:spPr>
          <a:xfrm>
            <a:off x="1028700" y="3604599"/>
            <a:ext cx="35433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Forum"/>
                <a:ea typeface="Forum"/>
                <a:cs typeface="Forum"/>
                <a:sym typeface="Forum"/>
              </a:rPr>
              <a:t>Atatürk </a:t>
            </a:r>
            <a:r>
              <a:rPr lang="en-US" sz="3399" dirty="0" err="1">
                <a:solidFill>
                  <a:srgbClr val="000000"/>
                </a:solidFill>
                <a:latin typeface="Forum"/>
                <a:ea typeface="Forum"/>
                <a:cs typeface="Forum"/>
                <a:sym typeface="Forum"/>
              </a:rPr>
              <a:t>Üniversitesi</a:t>
            </a:r>
            <a:endParaRPr lang="en-US" sz="3399" dirty="0">
              <a:solidFill>
                <a:srgbClr val="000000"/>
              </a:solidFill>
              <a:latin typeface="Forum"/>
              <a:ea typeface="Forum"/>
              <a:cs typeface="Forum"/>
              <a:sym typeface="Forum"/>
            </a:endParaRPr>
          </a:p>
        </p:txBody>
      </p:sp>
      <p:sp>
        <p:nvSpPr>
          <p:cNvPr id="4" name="TextBox 4"/>
          <p:cNvSpPr txBox="1"/>
          <p:nvPr/>
        </p:nvSpPr>
        <p:spPr>
          <a:xfrm>
            <a:off x="7322767" y="2584789"/>
            <a:ext cx="11457602" cy="1600200"/>
          </a:xfrm>
          <a:prstGeom prst="rect">
            <a:avLst/>
          </a:prstGeom>
        </p:spPr>
        <p:txBody>
          <a:bodyPr lIns="0" tIns="0" rIns="0" bIns="0" rtlCol="0" anchor="t">
            <a:spAutoFit/>
          </a:bodyPr>
          <a:lstStyle/>
          <a:p>
            <a:pPr algn="just">
              <a:lnSpc>
                <a:spcPts val="4200"/>
              </a:lnSpc>
            </a:pPr>
            <a:r>
              <a:rPr lang="en-US" sz="3000" dirty="0" err="1">
                <a:solidFill>
                  <a:srgbClr val="000000"/>
                </a:solidFill>
                <a:latin typeface="Forum"/>
                <a:ea typeface="Forum"/>
                <a:cs typeface="Forum"/>
                <a:sym typeface="Forum"/>
              </a:rPr>
              <a:t>Yapay</a:t>
            </a:r>
            <a:r>
              <a:rPr lang="en-US" sz="3000" dirty="0">
                <a:solidFill>
                  <a:srgbClr val="000000"/>
                </a:solidFill>
                <a:latin typeface="Forum"/>
                <a:ea typeface="Forum"/>
                <a:cs typeface="Forum"/>
                <a:sym typeface="Forum"/>
              </a:rPr>
              <a:t> Zeka </a:t>
            </a:r>
            <a:r>
              <a:rPr lang="en-US" sz="3000" dirty="0" err="1">
                <a:solidFill>
                  <a:srgbClr val="000000"/>
                </a:solidFill>
                <a:latin typeface="Forum"/>
                <a:ea typeface="Forum"/>
                <a:cs typeface="Forum"/>
                <a:sym typeface="Forum"/>
              </a:rPr>
              <a:t>ve</a:t>
            </a:r>
            <a:r>
              <a:rPr lang="en-US" sz="3000" dirty="0">
                <a:solidFill>
                  <a:srgbClr val="000000"/>
                </a:solidFill>
                <a:latin typeface="Forum"/>
                <a:ea typeface="Forum"/>
                <a:cs typeface="Forum"/>
                <a:sym typeface="Forum"/>
              </a:rPr>
              <a:t> Veri </a:t>
            </a:r>
            <a:r>
              <a:rPr lang="en-US" sz="3000" dirty="0" err="1">
                <a:solidFill>
                  <a:srgbClr val="000000"/>
                </a:solidFill>
                <a:latin typeface="Forum"/>
                <a:ea typeface="Forum"/>
                <a:cs typeface="Forum"/>
                <a:sym typeface="Forum"/>
              </a:rPr>
              <a:t>Mühendisliği</a:t>
            </a:r>
            <a:endParaRPr lang="en-US" sz="3000" dirty="0">
              <a:solidFill>
                <a:srgbClr val="000000"/>
              </a:solidFill>
              <a:latin typeface="Forum"/>
              <a:ea typeface="Forum"/>
              <a:cs typeface="Forum"/>
              <a:sym typeface="Forum"/>
            </a:endParaRPr>
          </a:p>
          <a:p>
            <a:pPr algn="just">
              <a:lnSpc>
                <a:spcPts val="4200"/>
              </a:lnSpc>
            </a:pPr>
            <a:r>
              <a:rPr lang="en-US" sz="3000" dirty="0" err="1">
                <a:solidFill>
                  <a:srgbClr val="000000"/>
                </a:solidFill>
                <a:latin typeface="Forum"/>
                <a:ea typeface="Forum"/>
                <a:cs typeface="Forum"/>
                <a:sym typeface="Forum"/>
              </a:rPr>
              <a:t>Dersin</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Adı</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Denetimli</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Öğrenmenin</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Temelleri</a:t>
            </a:r>
            <a:endParaRPr lang="en-US" sz="3000" dirty="0">
              <a:solidFill>
                <a:srgbClr val="000000"/>
              </a:solidFill>
              <a:latin typeface="Forum"/>
              <a:ea typeface="Forum"/>
              <a:cs typeface="Forum"/>
              <a:sym typeface="Forum"/>
            </a:endParaRPr>
          </a:p>
          <a:p>
            <a:pPr algn="just">
              <a:lnSpc>
                <a:spcPts val="4200"/>
              </a:lnSpc>
              <a:spcBef>
                <a:spcPct val="0"/>
              </a:spcBef>
            </a:pPr>
            <a:r>
              <a:rPr lang="en-US" sz="3000" dirty="0" err="1">
                <a:solidFill>
                  <a:srgbClr val="000000"/>
                </a:solidFill>
                <a:latin typeface="Forum"/>
                <a:ea typeface="Forum"/>
                <a:cs typeface="Forum"/>
                <a:sym typeface="Forum"/>
              </a:rPr>
              <a:t>Proje</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Biyometrik</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Güvenlik</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ve</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Kimlikleme</a:t>
            </a:r>
            <a:r>
              <a:rPr lang="en-US" sz="3000" dirty="0">
                <a:solidFill>
                  <a:srgbClr val="000000"/>
                </a:solidFill>
                <a:latin typeface="Forum"/>
                <a:ea typeface="Forum"/>
                <a:cs typeface="Forum"/>
                <a:sym typeface="Forum"/>
              </a:rPr>
              <a:t>:</a:t>
            </a:r>
            <a:r>
              <a:rPr lang="tr-TR"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Yüz</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Tanıma</a:t>
            </a:r>
            <a:r>
              <a:rPr lang="en-US" sz="3000" dirty="0">
                <a:solidFill>
                  <a:srgbClr val="000000"/>
                </a:solidFill>
                <a:latin typeface="Forum"/>
                <a:ea typeface="Forum"/>
                <a:cs typeface="Forum"/>
                <a:sym typeface="Forum"/>
              </a:rPr>
              <a:t> </a:t>
            </a:r>
            <a:r>
              <a:rPr lang="en-US" sz="3000" dirty="0" err="1">
                <a:solidFill>
                  <a:srgbClr val="000000"/>
                </a:solidFill>
                <a:latin typeface="Forum"/>
                <a:ea typeface="Forum"/>
                <a:cs typeface="Forum"/>
                <a:sym typeface="Forum"/>
              </a:rPr>
              <a:t>Sistemi</a:t>
            </a:r>
            <a:endParaRPr lang="en-US" sz="3000" dirty="0">
              <a:solidFill>
                <a:srgbClr val="000000"/>
              </a:solidFill>
              <a:latin typeface="Forum"/>
              <a:ea typeface="Forum"/>
              <a:cs typeface="Forum"/>
              <a:sym typeface="Forum"/>
            </a:endParaRPr>
          </a:p>
        </p:txBody>
      </p:sp>
      <p:sp>
        <p:nvSpPr>
          <p:cNvPr id="5" name="TextBox 5"/>
          <p:cNvSpPr txBox="1"/>
          <p:nvPr/>
        </p:nvSpPr>
        <p:spPr>
          <a:xfrm>
            <a:off x="1028700" y="7124700"/>
            <a:ext cx="4713387" cy="2133600"/>
          </a:xfrm>
          <a:prstGeom prst="rect">
            <a:avLst/>
          </a:prstGeom>
        </p:spPr>
        <p:txBody>
          <a:bodyPr lIns="0" tIns="0" rIns="0" bIns="0" rtlCol="0" anchor="t">
            <a:spAutoFit/>
          </a:bodyPr>
          <a:lstStyle/>
          <a:p>
            <a:pPr algn="l">
              <a:lnSpc>
                <a:spcPts val="4200"/>
              </a:lnSpc>
            </a:pPr>
            <a:r>
              <a:rPr lang="en-US" sz="3000">
                <a:solidFill>
                  <a:srgbClr val="000000"/>
                </a:solidFill>
                <a:latin typeface="Forum"/>
                <a:ea typeface="Forum"/>
                <a:cs typeface="Forum"/>
                <a:sym typeface="Forum"/>
              </a:rPr>
              <a:t>Proje katılımcıları : </a:t>
            </a:r>
          </a:p>
          <a:p>
            <a:pPr algn="ctr">
              <a:lnSpc>
                <a:spcPts val="4200"/>
              </a:lnSpc>
            </a:pPr>
            <a:r>
              <a:rPr lang="en-US" sz="3000">
                <a:solidFill>
                  <a:srgbClr val="000000"/>
                </a:solidFill>
                <a:latin typeface="Forum"/>
                <a:ea typeface="Forum"/>
                <a:cs typeface="Forum"/>
                <a:sym typeface="Forum"/>
              </a:rPr>
              <a:t>Yiğit Görkem Özer #240711006</a:t>
            </a:r>
          </a:p>
          <a:p>
            <a:pPr algn="l">
              <a:lnSpc>
                <a:spcPts val="4200"/>
              </a:lnSpc>
            </a:pPr>
            <a:r>
              <a:rPr lang="en-US" sz="3000">
                <a:solidFill>
                  <a:srgbClr val="000000"/>
                </a:solidFill>
                <a:latin typeface="Forum"/>
                <a:ea typeface="Forum"/>
                <a:cs typeface="Forum"/>
                <a:sym typeface="Forum"/>
              </a:rPr>
              <a:t>Ahmet Kurt #240711008 </a:t>
            </a:r>
          </a:p>
          <a:p>
            <a:pPr algn="l">
              <a:lnSpc>
                <a:spcPts val="4200"/>
              </a:lnSpc>
              <a:spcBef>
                <a:spcPct val="0"/>
              </a:spcBef>
            </a:pPr>
            <a:r>
              <a:rPr lang="en-US" sz="3000">
                <a:solidFill>
                  <a:srgbClr val="000000"/>
                </a:solidFill>
                <a:latin typeface="Forum"/>
                <a:ea typeface="Forum"/>
                <a:cs typeface="Forum"/>
                <a:sym typeface="Forum"/>
              </a:rPr>
              <a:t>Seyit Ali Arslan #240711024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962025"/>
            <a:ext cx="46863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Projenin</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kapsamı</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ve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hedefi</a:t>
            </a:r>
            <a:r>
              <a:rPr lang="en-US" sz="3399" dirty="0">
                <a:solidFill>
                  <a:srgbClr val="000000"/>
                </a:solidFill>
                <a:latin typeface="Antonio"/>
                <a:ea typeface="Antonio"/>
                <a:cs typeface="Antonio"/>
                <a:sym typeface="Antonio"/>
              </a:rPr>
              <a:t> :</a:t>
            </a:r>
          </a:p>
        </p:txBody>
      </p:sp>
      <p:sp>
        <p:nvSpPr>
          <p:cNvPr id="3" name="TextBox 3"/>
          <p:cNvSpPr txBox="1"/>
          <p:nvPr/>
        </p:nvSpPr>
        <p:spPr>
          <a:xfrm>
            <a:off x="1028700" y="1715550"/>
            <a:ext cx="15963900" cy="471924"/>
          </a:xfrm>
          <a:prstGeom prst="rect">
            <a:avLst/>
          </a:prstGeom>
        </p:spPr>
        <p:txBody>
          <a:bodyPr wrap="square" lIns="0" tIns="0" rIns="0" bIns="0" rtlCol="0" anchor="t">
            <a:spAutoFit/>
          </a:bodyPr>
          <a:lstStyle/>
          <a:p>
            <a:pPr algn="ctr">
              <a:lnSpc>
                <a:spcPts val="3920"/>
              </a:lnSpc>
              <a:spcBef>
                <a:spcPct val="0"/>
              </a:spcBef>
            </a:pPr>
            <a:r>
              <a:rPr lang="en-US" sz="2800" dirty="0" err="1">
                <a:solidFill>
                  <a:srgbClr val="000000"/>
                </a:solidFill>
                <a:latin typeface="Forum"/>
                <a:ea typeface="Forum"/>
                <a:cs typeface="Forum"/>
                <a:sym typeface="Forum"/>
              </a:rPr>
              <a:t>Karmaşık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arka</a:t>
            </a:r>
            <a:r>
              <a:rPr lang="en-US" sz="2800" dirty="0">
                <a:solidFill>
                  <a:srgbClr val="000000"/>
                </a:solidFill>
                <a:latin typeface="Forum"/>
                <a:ea typeface="Forum"/>
                <a:cs typeface="Forum"/>
                <a:sym typeface="Forum"/>
              </a:rPr>
              <a:t> plana </a:t>
            </a:r>
            <a:r>
              <a:rPr lang="en-US" sz="2800" dirty="0" err="1">
                <a:solidFill>
                  <a:srgbClr val="000000"/>
                </a:solidFill>
                <a:latin typeface="Forum"/>
                <a:ea typeface="Forum"/>
                <a:cs typeface="Forum"/>
                <a:sym typeface="Forum"/>
              </a:rPr>
              <a:t>sahip</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görüntülerde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modelde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eğitilen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kişilerin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yüksek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doğruluk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oranıyla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tespit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edilebilmesi</a:t>
            </a:r>
            <a:endParaRPr lang="en-US" sz="2800" dirty="0">
              <a:solidFill>
                <a:srgbClr val="000000"/>
              </a:solidFill>
              <a:latin typeface="Forum"/>
              <a:ea typeface="Forum"/>
              <a:cs typeface="Forum"/>
              <a:sym typeface="Forum"/>
            </a:endParaRPr>
          </a:p>
        </p:txBody>
      </p:sp>
      <p:sp>
        <p:nvSpPr>
          <p:cNvPr id="4" name="TextBox 4"/>
          <p:cNvSpPr txBox="1"/>
          <p:nvPr/>
        </p:nvSpPr>
        <p:spPr>
          <a:xfrm>
            <a:off x="1028700" y="2621891"/>
            <a:ext cx="33147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Nasıl</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tespit</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ediliyor</a:t>
            </a:r>
            <a:r>
              <a:rPr lang="en-US" sz="3399" dirty="0">
                <a:solidFill>
                  <a:srgbClr val="000000"/>
                </a:solidFill>
                <a:latin typeface="Antonio"/>
                <a:ea typeface="Antonio"/>
                <a:cs typeface="Antonio"/>
                <a:sym typeface="Antonio"/>
              </a:rPr>
              <a:t>:</a:t>
            </a:r>
          </a:p>
        </p:txBody>
      </p:sp>
      <p:sp>
        <p:nvSpPr>
          <p:cNvPr id="5" name="TextBox 5"/>
          <p:cNvSpPr txBox="1"/>
          <p:nvPr/>
        </p:nvSpPr>
        <p:spPr>
          <a:xfrm>
            <a:off x="1028700" y="3373731"/>
            <a:ext cx="17234297" cy="995680"/>
          </a:xfrm>
          <a:prstGeom prst="rect">
            <a:avLst/>
          </a:prstGeom>
        </p:spPr>
        <p:txBody>
          <a:bodyPr lIns="0" tIns="0" rIns="0" bIns="0" rtlCol="0" anchor="t">
            <a:spAutoFit/>
          </a:bodyPr>
          <a:lstStyle/>
          <a:p>
            <a:pPr algn="ctr">
              <a:lnSpc>
                <a:spcPts val="3920"/>
              </a:lnSpc>
            </a:pPr>
            <a:r>
              <a:rPr lang="en-US" sz="2800" dirty="0" err="1">
                <a:solidFill>
                  <a:srgbClr val="000000"/>
                </a:solidFill>
                <a:latin typeface="Forum"/>
                <a:ea typeface="Forum"/>
                <a:cs typeface="Forum"/>
                <a:sym typeface="Forum"/>
              </a:rPr>
              <a:t>Geleneksel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görüntü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işleme</a:t>
            </a:r>
            <a:r>
              <a:rPr lang="en-US" sz="2800" dirty="0">
                <a:solidFill>
                  <a:srgbClr val="000000"/>
                </a:solidFill>
                <a:latin typeface="Forum"/>
                <a:ea typeface="Forum"/>
                <a:cs typeface="Forum"/>
                <a:sym typeface="Forum"/>
              </a:rPr>
              <a:t> (OpenCV) </a:t>
            </a:r>
            <a:r>
              <a:rPr lang="en-US" sz="2800" dirty="0" err="1">
                <a:solidFill>
                  <a:srgbClr val="000000"/>
                </a:solidFill>
                <a:latin typeface="Forum"/>
                <a:ea typeface="Forum"/>
                <a:cs typeface="Forum"/>
                <a:sym typeface="Forum"/>
              </a:rPr>
              <a:t>ile</a:t>
            </a:r>
            <a:r>
              <a:rPr lang="en-US" sz="2800" dirty="0">
                <a:solidFill>
                  <a:srgbClr val="000000"/>
                </a:solidFill>
                <a:latin typeface="Forum"/>
                <a:ea typeface="Forum"/>
                <a:cs typeface="Forum"/>
                <a:sym typeface="Forum"/>
              </a:rPr>
              <a:t> modern </a:t>
            </a:r>
            <a:r>
              <a:rPr lang="en-US" sz="2800" dirty="0" err="1">
                <a:solidFill>
                  <a:srgbClr val="000000"/>
                </a:solidFill>
                <a:latin typeface="Forum"/>
                <a:ea typeface="Forum"/>
                <a:cs typeface="Forum"/>
                <a:sym typeface="Forum"/>
              </a:rPr>
              <a:t>makine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öğrenmesi</a:t>
            </a:r>
            <a:r>
              <a:rPr lang="en-US" sz="2800" dirty="0">
                <a:solidFill>
                  <a:srgbClr val="000000"/>
                </a:solidFill>
                <a:latin typeface="Forum"/>
                <a:ea typeface="Forum"/>
                <a:cs typeface="Forum"/>
                <a:sym typeface="Forum"/>
              </a:rPr>
              <a:t> (Destek </a:t>
            </a:r>
            <a:r>
              <a:rPr lang="en-US" sz="2800" dirty="0" err="1">
                <a:solidFill>
                  <a:srgbClr val="000000"/>
                </a:solidFill>
                <a:latin typeface="Forum"/>
                <a:ea typeface="Forum"/>
                <a:cs typeface="Forum"/>
                <a:sym typeface="Forum"/>
              </a:rPr>
              <a:t>Vektör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Makinesi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tekniklerinin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birleştirerek</a:t>
            </a:r>
            <a:r>
              <a:rPr lang="en-US" sz="2800" dirty="0">
                <a:solidFill>
                  <a:srgbClr val="000000"/>
                </a:solidFill>
                <a:latin typeface="Forum"/>
                <a:ea typeface="Forum"/>
                <a:cs typeface="Forum"/>
                <a:sym typeface="Forum"/>
              </a:rPr>
              <a:t> </a:t>
            </a:r>
          </a:p>
          <a:p>
            <a:pPr algn="l">
              <a:lnSpc>
                <a:spcPts val="3920"/>
              </a:lnSpc>
              <a:spcBef>
                <a:spcPct val="0"/>
              </a:spcBef>
            </a:pP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model </a:t>
            </a:r>
            <a:r>
              <a:rPr lang="en-US" sz="2800" dirty="0" err="1">
                <a:solidFill>
                  <a:srgbClr val="000000"/>
                </a:solidFill>
                <a:latin typeface="Forum"/>
                <a:ea typeface="Forum"/>
                <a:cs typeface="Forum"/>
                <a:sym typeface="Forum"/>
              </a:rPr>
              <a:t>oluşturmayı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hedefledik</a:t>
            </a:r>
            <a:r>
              <a:rPr lang="en-US" sz="2800" dirty="0">
                <a:solidFill>
                  <a:srgbClr val="000000"/>
                </a:solidFill>
                <a:latin typeface="Forum"/>
                <a:ea typeface="Forum"/>
                <a:cs typeface="Forum"/>
                <a:sym typeface="Forum"/>
              </a:rPr>
              <a:t>.</a:t>
            </a:r>
          </a:p>
        </p:txBody>
      </p:sp>
      <p:sp>
        <p:nvSpPr>
          <p:cNvPr id="6" name="TextBox 6"/>
          <p:cNvSpPr txBox="1"/>
          <p:nvPr/>
        </p:nvSpPr>
        <p:spPr>
          <a:xfrm>
            <a:off x="1028700" y="4778985"/>
            <a:ext cx="24765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Temel </a:t>
            </a:r>
            <a:r>
              <a:rPr lang="en-US" sz="3399" dirty="0" err="1">
                <a:solidFill>
                  <a:srgbClr val="000000"/>
                </a:solidFill>
                <a:latin typeface="Antonio"/>
                <a:ea typeface="Antonio"/>
                <a:cs typeface="Antonio"/>
                <a:sym typeface="Antonio"/>
              </a:rPr>
              <a:t>Mantığı</a:t>
            </a:r>
            <a:r>
              <a:rPr lang="en-US" sz="3399" dirty="0">
                <a:solidFill>
                  <a:srgbClr val="000000"/>
                </a:solidFill>
                <a:latin typeface="Antonio"/>
                <a:ea typeface="Antonio"/>
                <a:cs typeface="Antonio"/>
                <a:sym typeface="Antonio"/>
              </a:rPr>
              <a:t>:</a:t>
            </a:r>
          </a:p>
        </p:txBody>
      </p:sp>
      <p:sp>
        <p:nvSpPr>
          <p:cNvPr id="7" name="TextBox 7"/>
          <p:cNvSpPr txBox="1"/>
          <p:nvPr/>
        </p:nvSpPr>
        <p:spPr>
          <a:xfrm>
            <a:off x="1028700" y="5530825"/>
            <a:ext cx="15692884" cy="995680"/>
          </a:xfrm>
          <a:prstGeom prst="rect">
            <a:avLst/>
          </a:prstGeom>
        </p:spPr>
        <p:txBody>
          <a:bodyPr lIns="0" tIns="0" rIns="0" bIns="0" rtlCol="0" anchor="t">
            <a:spAutoFit/>
          </a:bodyPr>
          <a:lstStyle/>
          <a:p>
            <a:pPr algn="l">
              <a:lnSpc>
                <a:spcPts val="3920"/>
              </a:lnSpc>
            </a:pPr>
            <a:r>
              <a:rPr lang="en-US" sz="2800">
                <a:solidFill>
                  <a:srgbClr val="000000"/>
                </a:solidFill>
                <a:latin typeface="Forum"/>
                <a:ea typeface="Forum"/>
                <a:cs typeface="Forum"/>
                <a:sym typeface="Forum"/>
              </a:rPr>
              <a:t>Verilen bir fotoğrafta yüzü otomatik olarak algılayıp, %20 güven eşiğini geçiyorsa isim tahmininde bulunuyor. </a:t>
            </a:r>
          </a:p>
          <a:p>
            <a:pPr algn="l">
              <a:lnSpc>
                <a:spcPts val="3920"/>
              </a:lnSpc>
              <a:spcBef>
                <a:spcPct val="0"/>
              </a:spcBef>
            </a:pPr>
            <a:r>
              <a:rPr lang="en-US" sz="2800">
                <a:solidFill>
                  <a:srgbClr val="000000"/>
                </a:solidFill>
                <a:latin typeface="Forum"/>
                <a:ea typeface="Forum"/>
                <a:cs typeface="Forum"/>
                <a:sym typeface="Forum"/>
              </a:rPr>
              <a:t>Eğer bu eşiği geçemediyse(yani öğrendiği kimseye benzetemediyse) “bilinmeyen” olarak çıktı veriyor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1999469"/>
            <a:ext cx="7256341" cy="1664048"/>
          </a:xfrm>
          <a:custGeom>
            <a:avLst/>
            <a:gdLst/>
            <a:ahLst/>
            <a:cxnLst/>
            <a:rect l="l" t="t" r="r" b="b"/>
            <a:pathLst>
              <a:path w="7256341" h="1664048">
                <a:moveTo>
                  <a:pt x="0" y="0"/>
                </a:moveTo>
                <a:lnTo>
                  <a:pt x="7256341" y="0"/>
                </a:lnTo>
                <a:lnTo>
                  <a:pt x="7256341" y="1664048"/>
                </a:lnTo>
                <a:lnTo>
                  <a:pt x="0" y="1664048"/>
                </a:lnTo>
                <a:lnTo>
                  <a:pt x="0" y="0"/>
                </a:lnTo>
                <a:close/>
              </a:path>
            </a:pathLst>
          </a:custGeom>
          <a:blipFill>
            <a:blip r:embed="rId2"/>
            <a:stretch>
              <a:fillRect/>
            </a:stretch>
          </a:blipFill>
        </p:spPr>
        <p:txBody>
          <a:bodyPr/>
          <a:lstStyle/>
          <a:p>
            <a:endParaRPr lang="tr-TR"/>
          </a:p>
        </p:txBody>
      </p:sp>
      <p:sp>
        <p:nvSpPr>
          <p:cNvPr id="3" name="TextBox 3"/>
          <p:cNvSpPr txBox="1"/>
          <p:nvPr/>
        </p:nvSpPr>
        <p:spPr>
          <a:xfrm>
            <a:off x="1028700" y="962025"/>
            <a:ext cx="99441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Proje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yapımında</a:t>
            </a:r>
            <a:r>
              <a:rPr lang="en-US" sz="3399" dirty="0">
                <a:solidFill>
                  <a:srgbClr val="000000"/>
                </a:solidFill>
                <a:latin typeface="Antonio"/>
                <a:ea typeface="Antonio"/>
                <a:cs typeface="Antonio"/>
                <a:sym typeface="Antonio"/>
              </a:rPr>
              <a:t> hangi </a:t>
            </a:r>
            <a:r>
              <a:rPr lang="en-US" sz="3399" dirty="0" err="1">
                <a:solidFill>
                  <a:srgbClr val="000000"/>
                </a:solidFill>
                <a:latin typeface="Antonio"/>
                <a:ea typeface="Antonio"/>
                <a:cs typeface="Antonio"/>
                <a:sym typeface="Antonio"/>
              </a:rPr>
              <a:t>kütüphaneleri</a:t>
            </a:r>
            <a:r>
              <a:rPr lang="en-US" sz="3399" dirty="0">
                <a:solidFill>
                  <a:srgbClr val="000000"/>
                </a:solidFill>
                <a:latin typeface="Antonio"/>
                <a:ea typeface="Antonio"/>
                <a:cs typeface="Antonio"/>
                <a:sym typeface="Antonio"/>
              </a:rPr>
              <a:t> ne </a:t>
            </a:r>
            <a:r>
              <a:rPr lang="en-US" sz="3399" dirty="0" err="1">
                <a:solidFill>
                  <a:srgbClr val="000000"/>
                </a:solidFill>
                <a:latin typeface="Antonio"/>
                <a:ea typeface="Antonio"/>
                <a:cs typeface="Antonio"/>
                <a:sym typeface="Antonio"/>
              </a:rPr>
              <a:t>amaçla</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kullandık</a:t>
            </a:r>
            <a:r>
              <a:rPr lang="en-US" sz="3399" dirty="0">
                <a:solidFill>
                  <a:srgbClr val="000000"/>
                </a:solidFill>
                <a:latin typeface="Antonio"/>
                <a:ea typeface="Antonio"/>
                <a:cs typeface="Antonio"/>
                <a:sym typeface="Antonio"/>
              </a:rPr>
              <a:t> :</a:t>
            </a:r>
          </a:p>
        </p:txBody>
      </p:sp>
      <p:sp>
        <p:nvSpPr>
          <p:cNvPr id="4" name="TextBox 4"/>
          <p:cNvSpPr txBox="1"/>
          <p:nvPr/>
        </p:nvSpPr>
        <p:spPr>
          <a:xfrm>
            <a:off x="1028700" y="4044517"/>
            <a:ext cx="7834839" cy="995680"/>
          </a:xfrm>
          <a:prstGeom prst="rect">
            <a:avLst/>
          </a:prstGeom>
        </p:spPr>
        <p:txBody>
          <a:bodyPr lIns="0" tIns="0" rIns="0" bIns="0" rtlCol="0" anchor="t">
            <a:spAutoFit/>
          </a:bodyPr>
          <a:lstStyle/>
          <a:p>
            <a:pPr algn="l">
              <a:lnSpc>
                <a:spcPts val="3920"/>
              </a:lnSpc>
              <a:spcBef>
                <a:spcPct val="0"/>
              </a:spcBef>
            </a:pPr>
            <a:r>
              <a:rPr lang="en-US" sz="2800">
                <a:solidFill>
                  <a:srgbClr val="000000"/>
                </a:solidFill>
                <a:latin typeface="Forum"/>
                <a:ea typeface="Forum"/>
                <a:cs typeface="Forum"/>
                <a:sym typeface="Forum"/>
              </a:rPr>
              <a:t>OS : İşletim sistemiyle iletişim kurmamıza yaradı. (Dosyadan resimleri alıp kaydetme vb...)</a:t>
            </a:r>
          </a:p>
        </p:txBody>
      </p:sp>
      <p:sp>
        <p:nvSpPr>
          <p:cNvPr id="5" name="TextBox 5"/>
          <p:cNvSpPr txBox="1"/>
          <p:nvPr/>
        </p:nvSpPr>
        <p:spPr>
          <a:xfrm>
            <a:off x="1028700" y="5231921"/>
            <a:ext cx="8824077" cy="995680"/>
          </a:xfrm>
          <a:prstGeom prst="rect">
            <a:avLst/>
          </a:prstGeom>
        </p:spPr>
        <p:txBody>
          <a:bodyPr lIns="0" tIns="0" rIns="0" bIns="0" rtlCol="0" anchor="t">
            <a:spAutoFit/>
          </a:bodyPr>
          <a:lstStyle/>
          <a:p>
            <a:pPr algn="l">
              <a:lnSpc>
                <a:spcPts val="3920"/>
              </a:lnSpc>
              <a:spcBef>
                <a:spcPct val="0"/>
              </a:spcBef>
            </a:pPr>
            <a:r>
              <a:rPr lang="en-US" sz="2800">
                <a:solidFill>
                  <a:srgbClr val="000000"/>
                </a:solidFill>
                <a:latin typeface="Forum"/>
                <a:ea typeface="Forum"/>
                <a:cs typeface="Forum"/>
                <a:sym typeface="Forum"/>
              </a:rPr>
              <a:t>Numpy : yüzlerden elde edilecek olan öznitelik vektörlerinde işlem yapmak ve bunu depolamak için kullanıldı</a:t>
            </a:r>
          </a:p>
        </p:txBody>
      </p:sp>
      <p:sp>
        <p:nvSpPr>
          <p:cNvPr id="6" name="TextBox 6"/>
          <p:cNvSpPr txBox="1"/>
          <p:nvPr/>
        </p:nvSpPr>
        <p:spPr>
          <a:xfrm>
            <a:off x="1028700" y="6418101"/>
            <a:ext cx="9134624" cy="500380"/>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Forum"/>
                <a:ea typeface="Forum"/>
                <a:cs typeface="Forum"/>
                <a:sym typeface="Forum"/>
              </a:rPr>
              <a:t>OpenCV : Görüntüyü alıp işleyip, yüzü belirlemek için kullanıldı</a:t>
            </a:r>
          </a:p>
        </p:txBody>
      </p:sp>
      <p:sp>
        <p:nvSpPr>
          <p:cNvPr id="7" name="TextBox 7"/>
          <p:cNvSpPr txBox="1"/>
          <p:nvPr/>
        </p:nvSpPr>
        <p:spPr>
          <a:xfrm>
            <a:off x="1028700" y="7108981"/>
            <a:ext cx="9720308" cy="995680"/>
          </a:xfrm>
          <a:prstGeom prst="rect">
            <a:avLst/>
          </a:prstGeom>
        </p:spPr>
        <p:txBody>
          <a:bodyPr lIns="0" tIns="0" rIns="0" bIns="0" rtlCol="0" anchor="t">
            <a:spAutoFit/>
          </a:bodyPr>
          <a:lstStyle/>
          <a:p>
            <a:pPr algn="just">
              <a:lnSpc>
                <a:spcPts val="3920"/>
              </a:lnSpc>
            </a:pPr>
            <a:r>
              <a:rPr lang="en-US" sz="2800">
                <a:solidFill>
                  <a:srgbClr val="000000"/>
                </a:solidFill>
                <a:latin typeface="Forum"/>
                <a:ea typeface="Forum"/>
                <a:cs typeface="Forum"/>
                <a:sym typeface="Forum"/>
              </a:rPr>
              <a:t>Face_recognition : Projenin beyni diyebiliriz. </a:t>
            </a:r>
          </a:p>
          <a:p>
            <a:pPr algn="just">
              <a:lnSpc>
                <a:spcPts val="3920"/>
              </a:lnSpc>
              <a:spcBef>
                <a:spcPct val="0"/>
              </a:spcBef>
            </a:pPr>
            <a:r>
              <a:rPr lang="en-US" sz="2800">
                <a:solidFill>
                  <a:srgbClr val="000000"/>
                </a:solidFill>
                <a:latin typeface="Forum"/>
                <a:ea typeface="Forum"/>
                <a:cs typeface="Forum"/>
                <a:sym typeface="Forum"/>
              </a:rPr>
              <a:t>Kırpılan yüzü alıp bu yüzü şifreler. (Tek başına bir ordu)</a:t>
            </a:r>
          </a:p>
        </p:txBody>
      </p:sp>
      <p:sp>
        <p:nvSpPr>
          <p:cNvPr id="8" name="TextBox 8"/>
          <p:cNvSpPr txBox="1"/>
          <p:nvPr/>
        </p:nvSpPr>
        <p:spPr>
          <a:xfrm>
            <a:off x="10514009" y="1942319"/>
            <a:ext cx="7562976" cy="7763510"/>
          </a:xfrm>
          <a:prstGeom prst="rect">
            <a:avLst/>
          </a:prstGeom>
        </p:spPr>
        <p:txBody>
          <a:bodyPr lIns="0" tIns="0" rIns="0" bIns="0" rtlCol="0" anchor="t">
            <a:spAutoFit/>
          </a:bodyPr>
          <a:lstStyle/>
          <a:p>
            <a:pPr algn="l">
              <a:lnSpc>
                <a:spcPts val="3640"/>
              </a:lnSpc>
            </a:pPr>
            <a:r>
              <a:rPr lang="en-US" sz="2600">
                <a:solidFill>
                  <a:srgbClr val="000000"/>
                </a:solidFill>
                <a:latin typeface="Antonio"/>
                <a:ea typeface="Antonio"/>
                <a:cs typeface="Antonio"/>
                <a:sym typeface="Antonio"/>
              </a:rPr>
              <a:t>Sklearn den kullandıklarımız :</a:t>
            </a:r>
          </a:p>
          <a:p>
            <a:pPr algn="l">
              <a:lnSpc>
                <a:spcPts val="3640"/>
              </a:lnSpc>
            </a:pPr>
            <a:endParaRPr lang="en-US" sz="2600">
              <a:solidFill>
                <a:srgbClr val="000000"/>
              </a:solidFill>
              <a:latin typeface="Antonio"/>
              <a:ea typeface="Antonio"/>
              <a:cs typeface="Antonio"/>
              <a:sym typeface="Antonio"/>
            </a:endParaRPr>
          </a:p>
          <a:p>
            <a:pPr algn="l">
              <a:lnSpc>
                <a:spcPts val="3640"/>
              </a:lnSpc>
            </a:pPr>
            <a:r>
              <a:rPr lang="en-US" sz="2600">
                <a:solidFill>
                  <a:srgbClr val="000000"/>
                </a:solidFill>
                <a:latin typeface="Antonio"/>
                <a:ea typeface="Antonio"/>
                <a:cs typeface="Antonio"/>
                <a:sym typeface="Antonio"/>
              </a:rPr>
              <a:t>Label Encoder :  Veriyi makine diline çevirir.</a:t>
            </a:r>
          </a:p>
          <a:p>
            <a:pPr algn="l">
              <a:lnSpc>
                <a:spcPts val="3640"/>
              </a:lnSpc>
            </a:pPr>
            <a:r>
              <a:rPr lang="en-US" sz="2600">
                <a:solidFill>
                  <a:srgbClr val="000000"/>
                </a:solidFill>
                <a:latin typeface="Forum"/>
                <a:ea typeface="Forum"/>
                <a:cs typeface="Forum"/>
                <a:sym typeface="Forum"/>
              </a:rPr>
              <a:t>Model "Antony", "Messi" gibi kelimelerden anlamaz. Bu araç, isimleri 0, 1, 2 gibi sayılara (kodlara) dönüştürür ve tahmin sonrası tekrar isme çevirir.</a:t>
            </a:r>
          </a:p>
          <a:p>
            <a:pPr algn="l">
              <a:lnSpc>
                <a:spcPts val="3640"/>
              </a:lnSpc>
            </a:pPr>
            <a:endParaRPr lang="en-US" sz="2600">
              <a:solidFill>
                <a:srgbClr val="000000"/>
              </a:solidFill>
              <a:latin typeface="Forum"/>
              <a:ea typeface="Forum"/>
              <a:cs typeface="Forum"/>
              <a:sym typeface="Forum"/>
            </a:endParaRPr>
          </a:p>
          <a:p>
            <a:pPr algn="l">
              <a:lnSpc>
                <a:spcPts val="3640"/>
              </a:lnSpc>
            </a:pPr>
            <a:r>
              <a:rPr lang="en-US" sz="2600">
                <a:solidFill>
                  <a:srgbClr val="000000"/>
                </a:solidFill>
                <a:latin typeface="Antonio"/>
                <a:ea typeface="Antonio"/>
                <a:cs typeface="Antonio"/>
                <a:sym typeface="Antonio"/>
              </a:rPr>
              <a:t>Support Vector Classifier (SVC) :</a:t>
            </a:r>
          </a:p>
          <a:p>
            <a:pPr algn="l">
              <a:lnSpc>
                <a:spcPts val="3640"/>
              </a:lnSpc>
            </a:pPr>
            <a:r>
              <a:rPr lang="en-US" sz="2600">
                <a:solidFill>
                  <a:srgbClr val="000000"/>
                </a:solidFill>
                <a:latin typeface="Forum"/>
                <a:ea typeface="Forum"/>
                <a:cs typeface="Forum"/>
                <a:sym typeface="Forum"/>
              </a:rPr>
              <a:t>Çıkarılan yüz verilerini (embedding) ve etiketleri (isimleri) alarak öğrenme işlemini gerçekleştirir (model.fit). </a:t>
            </a:r>
          </a:p>
          <a:p>
            <a:pPr algn="l">
              <a:lnSpc>
                <a:spcPts val="3640"/>
              </a:lnSpc>
            </a:pPr>
            <a:r>
              <a:rPr lang="en-US" sz="2600">
                <a:solidFill>
                  <a:srgbClr val="000000"/>
                </a:solidFill>
                <a:latin typeface="Forum"/>
                <a:ea typeface="Forum"/>
                <a:cs typeface="Forum"/>
                <a:sym typeface="Forum"/>
              </a:rPr>
              <a:t>Yeni bir yüz geldiğinde kime ait olduğunu tahmin eder.</a:t>
            </a:r>
          </a:p>
          <a:p>
            <a:pPr algn="l">
              <a:lnSpc>
                <a:spcPts val="3640"/>
              </a:lnSpc>
            </a:pPr>
            <a:endParaRPr lang="en-US" sz="2600">
              <a:solidFill>
                <a:srgbClr val="000000"/>
              </a:solidFill>
              <a:latin typeface="Forum"/>
              <a:ea typeface="Forum"/>
              <a:cs typeface="Forum"/>
              <a:sym typeface="Forum"/>
            </a:endParaRPr>
          </a:p>
          <a:p>
            <a:pPr algn="l">
              <a:lnSpc>
                <a:spcPts val="3640"/>
              </a:lnSpc>
            </a:pPr>
            <a:r>
              <a:rPr lang="en-US" sz="2600">
                <a:solidFill>
                  <a:srgbClr val="000000"/>
                </a:solidFill>
                <a:latin typeface="Antonio"/>
                <a:ea typeface="Antonio"/>
                <a:cs typeface="Antonio"/>
                <a:sym typeface="Antonio"/>
              </a:rPr>
              <a:t>(classification_report, accuracy_score) : Performansı ölçer</a:t>
            </a:r>
          </a:p>
          <a:p>
            <a:pPr algn="l">
              <a:lnSpc>
                <a:spcPts val="3640"/>
              </a:lnSpc>
            </a:pPr>
            <a:r>
              <a:rPr lang="en-US" sz="2600">
                <a:solidFill>
                  <a:srgbClr val="000000"/>
                </a:solidFill>
                <a:latin typeface="Forum"/>
                <a:ea typeface="Forum"/>
                <a:cs typeface="Forum"/>
                <a:sym typeface="Forum"/>
              </a:rPr>
              <a:t>Modelin ne kadar başarılı olduğunu, eğitim bittikten sonra matematiksel olarak raporlar (Doğruluk oranı, Hassasiyet vb.).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898" y="962025"/>
            <a:ext cx="5981502"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Veri </a:t>
            </a:r>
            <a:r>
              <a:rPr lang="en-US" sz="3399" dirty="0" err="1">
                <a:solidFill>
                  <a:srgbClr val="000000"/>
                </a:solidFill>
                <a:latin typeface="Antonio"/>
                <a:ea typeface="Antonio"/>
                <a:cs typeface="Antonio"/>
                <a:sym typeface="Antonio"/>
              </a:rPr>
              <a:t>mühendisliği</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ve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hazırlık</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süreci</a:t>
            </a:r>
            <a:r>
              <a:rPr lang="en-US" sz="3399" dirty="0">
                <a:solidFill>
                  <a:srgbClr val="000000"/>
                </a:solidFill>
                <a:latin typeface="Antonio"/>
                <a:ea typeface="Antonio"/>
                <a:cs typeface="Antonio"/>
                <a:sym typeface="Antonio"/>
              </a:rPr>
              <a:t> :</a:t>
            </a:r>
          </a:p>
        </p:txBody>
      </p:sp>
      <p:sp>
        <p:nvSpPr>
          <p:cNvPr id="3" name="TextBox 3"/>
          <p:cNvSpPr txBox="1"/>
          <p:nvPr/>
        </p:nvSpPr>
        <p:spPr>
          <a:xfrm>
            <a:off x="1028055" y="1844287"/>
            <a:ext cx="14516745" cy="471924"/>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Forum"/>
                <a:ea typeface="Forum"/>
                <a:cs typeface="Forum"/>
                <a:sym typeface="Forum"/>
              </a:rPr>
              <a:t>Ham </a:t>
            </a:r>
            <a:r>
              <a:rPr lang="en-US" sz="2800" dirty="0" err="1">
                <a:solidFill>
                  <a:srgbClr val="000000"/>
                </a:solidFill>
                <a:latin typeface="Forum"/>
                <a:ea typeface="Forum"/>
                <a:cs typeface="Forum"/>
                <a:sym typeface="Forum"/>
              </a:rPr>
              <a:t>veri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kaynağımız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internetten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topladığımız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belirli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futbolcuların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farklı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açılardan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çekilen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fotoğrafları</a:t>
            </a:r>
            <a:endParaRPr lang="en-US" sz="2800" dirty="0">
              <a:solidFill>
                <a:srgbClr val="000000"/>
              </a:solidFill>
              <a:latin typeface="Forum"/>
              <a:ea typeface="Forum"/>
              <a:cs typeface="Forum"/>
              <a:sym typeface="Forum"/>
            </a:endParaRPr>
          </a:p>
        </p:txBody>
      </p:sp>
      <p:sp>
        <p:nvSpPr>
          <p:cNvPr id="4" name="TextBox 4"/>
          <p:cNvSpPr txBox="1"/>
          <p:nvPr/>
        </p:nvSpPr>
        <p:spPr>
          <a:xfrm>
            <a:off x="1028700" y="2656065"/>
            <a:ext cx="40005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Akıllı </a:t>
            </a:r>
            <a:r>
              <a:rPr lang="en-US" sz="3399" dirty="0" err="1">
                <a:solidFill>
                  <a:srgbClr val="000000"/>
                </a:solidFill>
                <a:latin typeface="Antonio"/>
                <a:ea typeface="Antonio"/>
                <a:cs typeface="Antonio"/>
                <a:sym typeface="Antonio"/>
              </a:rPr>
              <a:t>yüz</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kırpma</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süreci</a:t>
            </a:r>
            <a:r>
              <a:rPr lang="en-US" sz="3399" dirty="0">
                <a:solidFill>
                  <a:srgbClr val="000000"/>
                </a:solidFill>
                <a:latin typeface="Antonio"/>
                <a:ea typeface="Antonio"/>
                <a:cs typeface="Antonio"/>
                <a:sym typeface="Antonio"/>
              </a:rPr>
              <a:t> :</a:t>
            </a:r>
          </a:p>
        </p:txBody>
      </p:sp>
      <p:sp>
        <p:nvSpPr>
          <p:cNvPr id="5" name="TextBox 5"/>
          <p:cNvSpPr txBox="1"/>
          <p:nvPr/>
        </p:nvSpPr>
        <p:spPr>
          <a:xfrm>
            <a:off x="1028700" y="3616960"/>
            <a:ext cx="12834170" cy="2976880"/>
          </a:xfrm>
          <a:prstGeom prst="rect">
            <a:avLst/>
          </a:prstGeom>
        </p:spPr>
        <p:txBody>
          <a:bodyPr lIns="0" tIns="0" rIns="0" bIns="0" rtlCol="0" anchor="t">
            <a:spAutoFit/>
          </a:bodyPr>
          <a:lstStyle/>
          <a:p>
            <a:pPr marL="604523" lvl="1" indent="-302261" algn="l">
              <a:lnSpc>
                <a:spcPts val="3920"/>
              </a:lnSpc>
              <a:buFont typeface="Arial"/>
              <a:buChar char="•"/>
            </a:pPr>
            <a:r>
              <a:rPr lang="en-US" sz="2800">
                <a:solidFill>
                  <a:srgbClr val="000000"/>
                </a:solidFill>
                <a:latin typeface="Forum"/>
                <a:ea typeface="Forum"/>
                <a:cs typeface="Forum"/>
                <a:sym typeface="Forum"/>
              </a:rPr>
              <a:t>Resimler önce Haar Cascade algoritması ile taratldı.</a:t>
            </a:r>
          </a:p>
          <a:p>
            <a:pPr marL="604523" lvl="1" indent="-302261" algn="l">
              <a:lnSpc>
                <a:spcPts val="3920"/>
              </a:lnSpc>
              <a:buFont typeface="Arial"/>
              <a:buChar char="•"/>
            </a:pPr>
            <a:r>
              <a:rPr lang="en-US" sz="2800">
                <a:solidFill>
                  <a:srgbClr val="000000"/>
                </a:solidFill>
                <a:latin typeface="Forum"/>
                <a:ea typeface="Forum"/>
                <a:cs typeface="Forum"/>
                <a:sym typeface="Forum"/>
              </a:rPr>
              <a:t>Doğruluğu arttırmak adına Haar Cascade göz tespiti algoritması ile de taratıldı.</a:t>
            </a:r>
          </a:p>
          <a:p>
            <a:pPr marL="604523" lvl="1" indent="-302261" algn="l">
              <a:lnSpc>
                <a:spcPts val="3920"/>
              </a:lnSpc>
              <a:buFont typeface="Arial"/>
              <a:buChar char="•"/>
            </a:pPr>
            <a:r>
              <a:rPr lang="en-US" sz="2800">
                <a:solidFill>
                  <a:srgbClr val="000000"/>
                </a:solidFill>
                <a:latin typeface="Forum"/>
                <a:ea typeface="Forum"/>
                <a:cs typeface="Forum"/>
                <a:sym typeface="Forum"/>
              </a:rPr>
              <a:t>Padding Stratejisi: Yüz hatlarının kaybolmaması için tespit edilen alan %15 oranında genişletilerek kırpıldı.</a:t>
            </a:r>
          </a:p>
          <a:p>
            <a:pPr marL="604523" lvl="1" indent="-302261" algn="l">
              <a:lnSpc>
                <a:spcPts val="3920"/>
              </a:lnSpc>
              <a:buFont typeface="Arial"/>
              <a:buChar char="•"/>
            </a:pPr>
            <a:r>
              <a:rPr lang="en-US" sz="2800">
                <a:solidFill>
                  <a:srgbClr val="000000"/>
                </a:solidFill>
                <a:latin typeface="Forum"/>
                <a:ea typeface="Forum"/>
                <a:cs typeface="Forum"/>
                <a:sym typeface="Forum"/>
              </a:rPr>
              <a:t>Sonuç: “cropped_faces” klasöründe sadece temiz ve işlenmeye hazır yüz verileri oluşturuldu.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962025"/>
            <a:ext cx="32385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Haarcascade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nedir</a:t>
            </a:r>
            <a:r>
              <a:rPr lang="en-US" sz="3399" dirty="0">
                <a:solidFill>
                  <a:srgbClr val="000000"/>
                </a:solidFill>
                <a:latin typeface="Antonio"/>
                <a:ea typeface="Antonio"/>
                <a:cs typeface="Antonio"/>
                <a:sym typeface="Antonio"/>
              </a:rPr>
              <a:t>?</a:t>
            </a:r>
          </a:p>
        </p:txBody>
      </p:sp>
      <p:sp>
        <p:nvSpPr>
          <p:cNvPr id="3" name="TextBox 3"/>
          <p:cNvSpPr txBox="1"/>
          <p:nvPr/>
        </p:nvSpPr>
        <p:spPr>
          <a:xfrm>
            <a:off x="1028700" y="1857237"/>
            <a:ext cx="11481383" cy="471924"/>
          </a:xfrm>
          <a:prstGeom prst="rect">
            <a:avLst/>
          </a:prstGeom>
        </p:spPr>
        <p:txBody>
          <a:bodyPr wrap="square" lIns="0" tIns="0" rIns="0" bIns="0" rtlCol="0" anchor="t">
            <a:spAutoFit/>
          </a:bodyPr>
          <a:lstStyle/>
          <a:p>
            <a:pPr algn="ctr">
              <a:lnSpc>
                <a:spcPts val="3920"/>
              </a:lnSpc>
              <a:spcBef>
                <a:spcPct val="0"/>
              </a:spcBef>
            </a:pPr>
            <a:r>
              <a:rPr lang="en-US" sz="2800" dirty="0" err="1">
                <a:solidFill>
                  <a:srgbClr val="000000"/>
                </a:solidFill>
                <a:latin typeface="Forum"/>
                <a:ea typeface="Forum"/>
                <a:cs typeface="Forum"/>
                <a:sym typeface="Forum"/>
              </a:rPr>
              <a:t>OpenCV’deki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haarcascade</a:t>
            </a:r>
            <a:r>
              <a:rPr lang="en-US" sz="2800" dirty="0">
                <a:solidFill>
                  <a:srgbClr val="000000"/>
                </a:solidFill>
                <a:latin typeface="Forum"/>
                <a:ea typeface="Forum"/>
                <a:cs typeface="Forum"/>
                <a:sym typeface="Forum"/>
              </a:rPr>
              <a:t>_*.xml” </a:t>
            </a:r>
            <a:r>
              <a:rPr lang="en-US" sz="2800" dirty="0" err="1">
                <a:solidFill>
                  <a:srgbClr val="000000"/>
                </a:solidFill>
                <a:latin typeface="Forum"/>
                <a:ea typeface="Forum"/>
                <a:cs typeface="Forum"/>
                <a:sym typeface="Forum"/>
              </a:rPr>
              <a:t>dosyaları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eğitilmiş</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sınıflandırıcı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modelidir</a:t>
            </a:r>
            <a:r>
              <a:rPr lang="en-US" sz="2800" dirty="0">
                <a:solidFill>
                  <a:srgbClr val="000000"/>
                </a:solidFill>
                <a:latin typeface="Forum"/>
                <a:ea typeface="Forum"/>
                <a:cs typeface="Forum"/>
                <a:sym typeface="Forum"/>
              </a:rPr>
              <a:t>.</a:t>
            </a:r>
          </a:p>
        </p:txBody>
      </p:sp>
      <p:sp>
        <p:nvSpPr>
          <p:cNvPr id="4" name="TextBox 4"/>
          <p:cNvSpPr txBox="1"/>
          <p:nvPr/>
        </p:nvSpPr>
        <p:spPr>
          <a:xfrm>
            <a:off x="1028700" y="3447295"/>
            <a:ext cx="11481383" cy="1490980"/>
          </a:xfrm>
          <a:prstGeom prst="rect">
            <a:avLst/>
          </a:prstGeom>
        </p:spPr>
        <p:txBody>
          <a:bodyPr lIns="0" tIns="0" rIns="0" bIns="0" rtlCol="0" anchor="t">
            <a:spAutoFit/>
          </a:bodyPr>
          <a:lstStyle/>
          <a:p>
            <a:pPr algn="l">
              <a:lnSpc>
                <a:spcPts val="3920"/>
              </a:lnSpc>
            </a:pPr>
            <a:r>
              <a:rPr lang="en-US" sz="2800">
                <a:solidFill>
                  <a:srgbClr val="000000"/>
                </a:solidFill>
                <a:latin typeface="Forum"/>
                <a:ea typeface="Forum"/>
                <a:cs typeface="Forum"/>
                <a:sym typeface="Forum"/>
              </a:rPr>
              <a:t>Görüntüdeki parlaklık farklarını hesaplayan matematiksel testtir</a:t>
            </a:r>
          </a:p>
          <a:p>
            <a:pPr algn="l">
              <a:lnSpc>
                <a:spcPts val="3920"/>
              </a:lnSpc>
              <a:spcBef>
                <a:spcPct val="0"/>
              </a:spcBef>
            </a:pPr>
            <a:r>
              <a:rPr lang="en-US" sz="2800">
                <a:solidFill>
                  <a:srgbClr val="000000"/>
                </a:solidFill>
                <a:latin typeface="Forum"/>
                <a:ea typeface="Forum"/>
                <a:cs typeface="Forum"/>
                <a:sym typeface="Forum"/>
              </a:rPr>
              <a:t>yani verilen resimde bir yüz var mı, bu yüzün hangi kısmı sorularını matematiksel ölçümler yaparak çıkarır.</a:t>
            </a:r>
          </a:p>
        </p:txBody>
      </p:sp>
      <p:sp>
        <p:nvSpPr>
          <p:cNvPr id="5" name="TextBox 5"/>
          <p:cNvSpPr txBox="1"/>
          <p:nvPr/>
        </p:nvSpPr>
        <p:spPr>
          <a:xfrm>
            <a:off x="1028700" y="2811851"/>
            <a:ext cx="24003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Haar Feature :</a:t>
            </a:r>
          </a:p>
        </p:txBody>
      </p:sp>
      <p:sp>
        <p:nvSpPr>
          <p:cNvPr id="6" name="TextBox 6"/>
          <p:cNvSpPr txBox="1"/>
          <p:nvPr/>
        </p:nvSpPr>
        <p:spPr>
          <a:xfrm>
            <a:off x="4515574" y="962025"/>
            <a:ext cx="6609626"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(Haar Feature </a:t>
            </a:r>
            <a:r>
              <a:rPr lang="en-US" sz="3399" dirty="0" err="1">
                <a:solidFill>
                  <a:srgbClr val="000000"/>
                </a:solidFill>
                <a:latin typeface="Antonio"/>
                <a:ea typeface="Antonio"/>
                <a:cs typeface="Antonio"/>
                <a:sym typeface="Antonio"/>
              </a:rPr>
              <a:t>tabanlı</a:t>
            </a:r>
            <a:r>
              <a:rPr lang="en-US" sz="3399" dirty="0">
                <a:solidFill>
                  <a:srgbClr val="000000"/>
                </a:solidFill>
                <a:latin typeface="Antonio"/>
                <a:ea typeface="Antonio"/>
                <a:cs typeface="Antonio"/>
                <a:sym typeface="Antonio"/>
              </a:rPr>
              <a:t> Cascade classifier)</a:t>
            </a:r>
          </a:p>
        </p:txBody>
      </p:sp>
      <p:sp>
        <p:nvSpPr>
          <p:cNvPr id="7" name="Freeform 7"/>
          <p:cNvSpPr/>
          <p:nvPr/>
        </p:nvSpPr>
        <p:spPr>
          <a:xfrm>
            <a:off x="10446862" y="4442974"/>
            <a:ext cx="6193686" cy="5582060"/>
          </a:xfrm>
          <a:custGeom>
            <a:avLst/>
            <a:gdLst/>
            <a:ahLst/>
            <a:cxnLst/>
            <a:rect l="l" t="t" r="r" b="b"/>
            <a:pathLst>
              <a:path w="6193686" h="5582060">
                <a:moveTo>
                  <a:pt x="0" y="0"/>
                </a:moveTo>
                <a:lnTo>
                  <a:pt x="6193686" y="0"/>
                </a:lnTo>
                <a:lnTo>
                  <a:pt x="6193686" y="5582060"/>
                </a:lnTo>
                <a:lnTo>
                  <a:pt x="0" y="5582060"/>
                </a:lnTo>
                <a:lnTo>
                  <a:pt x="0" y="0"/>
                </a:lnTo>
                <a:close/>
              </a:path>
            </a:pathLst>
          </a:custGeom>
          <a:blipFill>
            <a:blip r:embed="rId2"/>
            <a:stretch>
              <a:fillRect/>
            </a:stretch>
          </a:blipFill>
        </p:spPr>
        <p:txBody>
          <a:bodyPr/>
          <a:lstStyle/>
          <a:p>
            <a:endParaRPr lang="tr-TR"/>
          </a:p>
        </p:txBody>
      </p:sp>
      <p:sp>
        <p:nvSpPr>
          <p:cNvPr id="8" name="Freeform 8"/>
          <p:cNvSpPr/>
          <p:nvPr/>
        </p:nvSpPr>
        <p:spPr>
          <a:xfrm>
            <a:off x="1028700" y="5776474"/>
            <a:ext cx="9141312" cy="3850909"/>
          </a:xfrm>
          <a:custGeom>
            <a:avLst/>
            <a:gdLst/>
            <a:ahLst/>
            <a:cxnLst/>
            <a:rect l="l" t="t" r="r" b="b"/>
            <a:pathLst>
              <a:path w="9141312" h="3850909">
                <a:moveTo>
                  <a:pt x="0" y="0"/>
                </a:moveTo>
                <a:lnTo>
                  <a:pt x="9141312" y="0"/>
                </a:lnTo>
                <a:lnTo>
                  <a:pt x="9141312" y="3850909"/>
                </a:lnTo>
                <a:lnTo>
                  <a:pt x="0" y="3850909"/>
                </a:lnTo>
                <a:lnTo>
                  <a:pt x="0" y="0"/>
                </a:lnTo>
                <a:close/>
              </a:path>
            </a:pathLst>
          </a:custGeom>
          <a:blipFill>
            <a:blip r:embed="rId3"/>
            <a:stretch>
              <a:fillRect r="-1509"/>
            </a:stretch>
          </a:blipFill>
        </p:spPr>
        <p:txBody>
          <a:bodyPr/>
          <a:lstStyle/>
          <a:p>
            <a:endParaRPr lang="tr-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962025"/>
            <a:ext cx="3543300" cy="580390"/>
          </a:xfrm>
          <a:prstGeom prst="rect">
            <a:avLst/>
          </a:prstGeom>
        </p:spPr>
        <p:txBody>
          <a:bodyPr wrap="square" lIns="0" tIns="0" rIns="0" bIns="0" rtlCol="0" anchor="t">
            <a:spAutoFit/>
          </a:bodyPr>
          <a:lstStyle/>
          <a:p>
            <a:pPr algn="l">
              <a:lnSpc>
                <a:spcPts val="4759"/>
              </a:lnSpc>
              <a:spcBef>
                <a:spcPct val="0"/>
              </a:spcBef>
            </a:pPr>
            <a:r>
              <a:rPr lang="en-US" sz="3399" dirty="0">
                <a:solidFill>
                  <a:srgbClr val="000000"/>
                </a:solidFill>
                <a:latin typeface="Antonio"/>
                <a:ea typeface="Antonio"/>
                <a:cs typeface="Antonio"/>
                <a:sym typeface="Antonio"/>
              </a:rPr>
              <a:t>Haar Feature </a:t>
            </a:r>
            <a:r>
              <a:rPr lang="en-US" sz="3399" dirty="0" err="1">
                <a:solidFill>
                  <a:srgbClr val="000000"/>
                </a:solidFill>
                <a:latin typeface="Antonio"/>
                <a:ea typeface="Antonio"/>
                <a:cs typeface="Antonio"/>
                <a:sym typeface="Antonio"/>
              </a:rPr>
              <a:t>Hesabı</a:t>
            </a:r>
            <a:r>
              <a:rPr lang="en-US" sz="3399" dirty="0">
                <a:solidFill>
                  <a:srgbClr val="000000"/>
                </a:solidFill>
                <a:latin typeface="Antonio"/>
                <a:ea typeface="Antonio"/>
                <a:cs typeface="Antonio"/>
                <a:sym typeface="Antonio"/>
              </a:rPr>
              <a:t> :</a:t>
            </a:r>
          </a:p>
        </p:txBody>
      </p:sp>
      <p:sp>
        <p:nvSpPr>
          <p:cNvPr id="3" name="TextBox 3"/>
          <p:cNvSpPr txBox="1"/>
          <p:nvPr/>
        </p:nvSpPr>
        <p:spPr>
          <a:xfrm>
            <a:off x="1028700" y="1709577"/>
            <a:ext cx="15887700" cy="1986280"/>
          </a:xfrm>
          <a:prstGeom prst="rect">
            <a:avLst/>
          </a:prstGeom>
        </p:spPr>
        <p:txBody>
          <a:bodyPr wrap="square" lIns="0" tIns="0" rIns="0" bIns="0" rtlCol="0" anchor="t">
            <a:spAutoFit/>
          </a:bodyPr>
          <a:lstStyle/>
          <a:p>
            <a:pPr algn="just">
              <a:lnSpc>
                <a:spcPts val="3920"/>
              </a:lnSpc>
              <a:spcBef>
                <a:spcPct val="0"/>
              </a:spcBef>
            </a:pPr>
            <a:r>
              <a:rPr lang="en-US" sz="2800" dirty="0">
                <a:solidFill>
                  <a:srgbClr val="000000"/>
                </a:solidFill>
                <a:latin typeface="Forum"/>
                <a:ea typeface="Forum"/>
                <a:cs typeface="Forum"/>
                <a:sym typeface="Forum"/>
              </a:rPr>
              <a:t>Beyaz </a:t>
            </a:r>
            <a:r>
              <a:rPr lang="en-US" sz="2800" dirty="0" err="1">
                <a:solidFill>
                  <a:srgbClr val="000000"/>
                </a:solidFill>
                <a:latin typeface="Forum"/>
                <a:ea typeface="Forum"/>
                <a:cs typeface="Forum"/>
                <a:sym typeface="Forum"/>
              </a:rPr>
              <a:t>piksellerin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toplamı</a:t>
            </a:r>
            <a:r>
              <a:rPr lang="en-US" sz="2800" dirty="0">
                <a:solidFill>
                  <a:srgbClr val="000000"/>
                </a:solidFill>
                <a:latin typeface="Forum"/>
                <a:ea typeface="Forum"/>
                <a:cs typeface="Forum"/>
                <a:sym typeface="Forum"/>
              </a:rPr>
              <a:t> - </a:t>
            </a:r>
            <a:r>
              <a:rPr lang="en-US" sz="2800" dirty="0" err="1">
                <a:solidFill>
                  <a:srgbClr val="000000"/>
                </a:solidFill>
                <a:latin typeface="Forum"/>
                <a:ea typeface="Forum"/>
                <a:cs typeface="Forum"/>
                <a:sym typeface="Forum"/>
              </a:rPr>
              <a:t>siyah</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piksellerin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toplamı</a:t>
            </a:r>
            <a:r>
              <a:rPr lang="en-US" sz="2800" dirty="0">
                <a:solidFill>
                  <a:srgbClr val="000000"/>
                </a:solidFill>
                <a:latin typeface="Forum"/>
                <a:ea typeface="Forum"/>
                <a:cs typeface="Forum"/>
                <a:sym typeface="Forum"/>
              </a:rPr>
              <a:t> , </a:t>
            </a:r>
          </a:p>
          <a:p>
            <a:pPr algn="just">
              <a:lnSpc>
                <a:spcPts val="3920"/>
              </a:lnSpc>
              <a:spcBef>
                <a:spcPct val="0"/>
              </a:spcBef>
            </a:pPr>
            <a:r>
              <a:rPr lang="en-US" sz="2800" dirty="0" err="1">
                <a:solidFill>
                  <a:srgbClr val="000000"/>
                </a:solidFill>
                <a:latin typeface="Forum"/>
                <a:ea typeface="Forum"/>
                <a:cs typeface="Forum"/>
                <a:sym typeface="Forum"/>
              </a:rPr>
              <a:t>eğer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a:t>
            </a:r>
            <a:r>
              <a:rPr lang="en-US" sz="2800" dirty="0">
                <a:solidFill>
                  <a:srgbClr val="000000"/>
                </a:solidFill>
                <a:latin typeface="Forum"/>
                <a:ea typeface="Forum"/>
                <a:cs typeface="Forum"/>
                <a:sym typeface="Forum"/>
              </a:rPr>
              <a:t> fark </a:t>
            </a:r>
            <a:r>
              <a:rPr lang="en-US" sz="2800" dirty="0" err="1">
                <a:solidFill>
                  <a:srgbClr val="000000"/>
                </a:solidFill>
                <a:latin typeface="Forum"/>
                <a:ea typeface="Forum"/>
                <a:cs typeface="Forum"/>
                <a:sym typeface="Forum"/>
              </a:rPr>
              <a:t>belirli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eşikdeğerden</a:t>
            </a:r>
            <a:r>
              <a:rPr lang="en-US" sz="2800" dirty="0">
                <a:solidFill>
                  <a:srgbClr val="000000"/>
                </a:solidFill>
                <a:latin typeface="Forum"/>
                <a:ea typeface="Forum"/>
                <a:cs typeface="Forum"/>
                <a:sym typeface="Forum"/>
              </a:rPr>
              <a:t> (model </a:t>
            </a:r>
            <a:r>
              <a:rPr lang="en-US" sz="2800" dirty="0" err="1">
                <a:solidFill>
                  <a:srgbClr val="000000"/>
                </a:solidFill>
                <a:latin typeface="Forum"/>
                <a:ea typeface="Forum"/>
                <a:cs typeface="Forum"/>
                <a:sym typeface="Forum"/>
              </a:rPr>
              <a:t>eğitilirken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öğrenilen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değerler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yüksekse</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bu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pencere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gibi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gözükmeye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başlar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Resimdeki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temelde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geometrik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şekil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olması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ışık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yansımalarından</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oluştuğu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Haar </a:t>
            </a:r>
            <a:r>
              <a:rPr lang="en-US" sz="2800" dirty="0" err="1">
                <a:solidFill>
                  <a:srgbClr val="000000"/>
                </a:solidFill>
                <a:latin typeface="Forum"/>
                <a:ea typeface="Forum"/>
                <a:cs typeface="Forum"/>
                <a:sym typeface="Forum"/>
              </a:rPr>
              <a:t>Featurelarla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çok</a:t>
            </a:r>
            <a:r>
              <a:rPr lang="en-US" sz="2800" dirty="0">
                <a:solidFill>
                  <a:srgbClr val="000000"/>
                </a:solidFill>
                <a:latin typeface="Forum"/>
                <a:ea typeface="Forum"/>
                <a:cs typeface="Forum"/>
                <a:sym typeface="Forum"/>
              </a:rPr>
              <a:t> iyi </a:t>
            </a:r>
            <a:r>
              <a:rPr lang="en-US" sz="2800" dirty="0" err="1">
                <a:solidFill>
                  <a:srgbClr val="000000"/>
                </a:solidFill>
                <a:latin typeface="Forum"/>
                <a:ea typeface="Forum"/>
                <a:cs typeface="Forum"/>
                <a:sym typeface="Forum"/>
              </a:rPr>
              <a:t>yakalanıyor</a:t>
            </a:r>
            <a:r>
              <a:rPr lang="en-US" sz="2800" dirty="0">
                <a:solidFill>
                  <a:srgbClr val="000000"/>
                </a:solidFill>
                <a:latin typeface="Forum"/>
                <a:ea typeface="Forum"/>
                <a:cs typeface="Forum"/>
                <a:sym typeface="Forum"/>
              </a:rPr>
              <a:t>.</a:t>
            </a:r>
          </a:p>
        </p:txBody>
      </p:sp>
      <p:sp>
        <p:nvSpPr>
          <p:cNvPr id="4" name="TextBox 4"/>
          <p:cNvSpPr txBox="1"/>
          <p:nvPr/>
        </p:nvSpPr>
        <p:spPr>
          <a:xfrm>
            <a:off x="1028700" y="3876831"/>
            <a:ext cx="52959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Neden</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gri</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renkte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çalıştırılıyor</a:t>
            </a:r>
            <a:r>
              <a:rPr lang="en-US" sz="3399" dirty="0">
                <a:solidFill>
                  <a:srgbClr val="000000"/>
                </a:solidFill>
                <a:latin typeface="Antonio"/>
                <a:ea typeface="Antonio"/>
                <a:cs typeface="Antonio"/>
                <a:sym typeface="Antonio"/>
              </a:rPr>
              <a:t> ? </a:t>
            </a:r>
          </a:p>
        </p:txBody>
      </p:sp>
      <p:sp>
        <p:nvSpPr>
          <p:cNvPr id="5" name="TextBox 5"/>
          <p:cNvSpPr txBox="1"/>
          <p:nvPr/>
        </p:nvSpPr>
        <p:spPr>
          <a:xfrm>
            <a:off x="1028700" y="4628671"/>
            <a:ext cx="15125700" cy="471924"/>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Forum"/>
                <a:ea typeface="Forum"/>
                <a:cs typeface="Forum"/>
                <a:sym typeface="Forum"/>
              </a:rPr>
              <a:t>Gri </a:t>
            </a:r>
            <a:r>
              <a:rPr lang="en-US" sz="2800" dirty="0" err="1">
                <a:solidFill>
                  <a:srgbClr val="000000"/>
                </a:solidFill>
                <a:latin typeface="Forum"/>
                <a:ea typeface="Forum"/>
                <a:cs typeface="Forum"/>
                <a:sym typeface="Forum"/>
              </a:rPr>
              <a:t>renkte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siyah</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beyaz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farkı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daha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belirgin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kolay</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hesaplandığı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gri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tonda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kullanmak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daha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hızlı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kolay</a:t>
            </a:r>
            <a:endParaRPr lang="en-US" sz="2800" dirty="0">
              <a:solidFill>
                <a:srgbClr val="000000"/>
              </a:solidFill>
              <a:latin typeface="Forum"/>
              <a:ea typeface="Forum"/>
              <a:cs typeface="Forum"/>
              <a:sym typeface="Forum"/>
            </a:endParaRPr>
          </a:p>
        </p:txBody>
      </p:sp>
      <p:sp>
        <p:nvSpPr>
          <p:cNvPr id="6" name="TextBox 6"/>
          <p:cNvSpPr txBox="1"/>
          <p:nvPr/>
        </p:nvSpPr>
        <p:spPr>
          <a:xfrm>
            <a:off x="1028700" y="5310026"/>
            <a:ext cx="4960481"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Antonio"/>
                <a:ea typeface="Antonio"/>
                <a:cs typeface="Antonio"/>
                <a:sym typeface="Antonio"/>
              </a:rPr>
              <a:t>Hızın asıl sırrı Integral Image :</a:t>
            </a:r>
          </a:p>
        </p:txBody>
      </p:sp>
      <p:sp>
        <p:nvSpPr>
          <p:cNvPr id="7" name="TextBox 7"/>
          <p:cNvSpPr txBox="1"/>
          <p:nvPr/>
        </p:nvSpPr>
        <p:spPr>
          <a:xfrm>
            <a:off x="1028700" y="6061866"/>
            <a:ext cx="15659100" cy="1986280"/>
          </a:xfrm>
          <a:prstGeom prst="rect">
            <a:avLst/>
          </a:prstGeom>
        </p:spPr>
        <p:txBody>
          <a:bodyPr wrap="square" lIns="0" tIns="0" rIns="0" bIns="0" rtlCol="0" anchor="t">
            <a:spAutoFit/>
          </a:bodyPr>
          <a:lstStyle/>
          <a:p>
            <a:pPr algn="l">
              <a:lnSpc>
                <a:spcPts val="3920"/>
              </a:lnSpc>
            </a:pPr>
            <a:r>
              <a:rPr lang="en-US" sz="2800" dirty="0" err="1">
                <a:solidFill>
                  <a:srgbClr val="000000"/>
                </a:solidFill>
                <a:latin typeface="Forum"/>
                <a:ea typeface="Forum"/>
                <a:cs typeface="Forum"/>
                <a:sym typeface="Forum"/>
              </a:rPr>
              <a:t>Normalde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dikdörtgenin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alanının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parlaklığını</a:t>
            </a:r>
            <a:r>
              <a:rPr lang="en-US" sz="2800" dirty="0">
                <a:solidFill>
                  <a:srgbClr val="000000"/>
                </a:solidFill>
                <a:latin typeface="Forum"/>
                <a:ea typeface="Forum"/>
                <a:cs typeface="Forum"/>
                <a:sym typeface="Forum"/>
              </a:rPr>
              <a:t> her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piksel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hesaplayarak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buluruz</a:t>
            </a:r>
            <a:r>
              <a:rPr lang="en-US" sz="2800" dirty="0">
                <a:solidFill>
                  <a:srgbClr val="000000"/>
                </a:solidFill>
                <a:latin typeface="Forum"/>
                <a:ea typeface="Forum"/>
                <a:cs typeface="Forum"/>
                <a:sym typeface="Forum"/>
              </a:rPr>
              <a:t>. </a:t>
            </a:r>
          </a:p>
          <a:p>
            <a:pPr algn="l">
              <a:lnSpc>
                <a:spcPts val="3920"/>
              </a:lnSpc>
            </a:pPr>
            <a:r>
              <a:rPr lang="en-US" sz="2800" dirty="0">
                <a:solidFill>
                  <a:srgbClr val="000000"/>
                </a:solidFill>
                <a:latin typeface="Forum"/>
                <a:ea typeface="Forum"/>
                <a:cs typeface="Forum"/>
                <a:sym typeface="Forum"/>
              </a:rPr>
              <a:t>Bu </a:t>
            </a:r>
            <a:r>
              <a:rPr lang="en-US" sz="2800" dirty="0" err="1">
                <a:solidFill>
                  <a:srgbClr val="000000"/>
                </a:solidFill>
                <a:latin typeface="Forum"/>
                <a:ea typeface="Forum"/>
                <a:cs typeface="Forum"/>
                <a:sym typeface="Forum"/>
              </a:rPr>
              <a:t>işlemin</a:t>
            </a:r>
            <a:r>
              <a:rPr lang="en-US" sz="2800" dirty="0">
                <a:solidFill>
                  <a:srgbClr val="000000"/>
                </a:solidFill>
                <a:latin typeface="Forum"/>
                <a:ea typeface="Forum"/>
                <a:cs typeface="Forum"/>
                <a:sym typeface="Forum"/>
              </a:rPr>
              <a:t> zaman </a:t>
            </a:r>
            <a:r>
              <a:rPr lang="en-US" sz="2800" dirty="0" err="1">
                <a:solidFill>
                  <a:srgbClr val="000000"/>
                </a:solidFill>
                <a:latin typeface="Forum"/>
                <a:ea typeface="Forum"/>
                <a:cs typeface="Forum"/>
                <a:sym typeface="Forum"/>
              </a:rPr>
              <a:t>karmaşıklığı</a:t>
            </a:r>
            <a:r>
              <a:rPr lang="en-US" sz="2800" dirty="0">
                <a:solidFill>
                  <a:srgbClr val="000000"/>
                </a:solidFill>
                <a:latin typeface="Forum"/>
                <a:ea typeface="Forum"/>
                <a:cs typeface="Forum"/>
                <a:sym typeface="Forum"/>
              </a:rPr>
              <a:t> O(</a:t>
            </a:r>
            <a:r>
              <a:rPr lang="en-US" sz="2800" dirty="0" err="1">
                <a:solidFill>
                  <a:srgbClr val="000000"/>
                </a:solidFill>
                <a:latin typeface="Forum"/>
                <a:ea typeface="Forum"/>
                <a:cs typeface="Forum"/>
                <a:sym typeface="Forum"/>
              </a:rPr>
              <a:t>NxM</a:t>
            </a:r>
            <a:r>
              <a:rPr lang="en-US" sz="2800" dirty="0">
                <a:solidFill>
                  <a:srgbClr val="000000"/>
                </a:solidFill>
                <a:latin typeface="Forum"/>
                <a:ea typeface="Forum"/>
                <a:cs typeface="Forum"/>
                <a:sym typeface="Forum"/>
              </a:rPr>
              <a:t>)da </a:t>
            </a:r>
            <a:r>
              <a:rPr lang="en-US" sz="2800" dirty="0" err="1">
                <a:solidFill>
                  <a:srgbClr val="000000"/>
                </a:solidFill>
                <a:latin typeface="Forum"/>
                <a:ea typeface="Forum"/>
                <a:cs typeface="Forum"/>
                <a:sym typeface="Forum"/>
              </a:rPr>
              <a:t>çalışır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a:t>
            </a:r>
            <a:r>
              <a:rPr lang="en-US" sz="2800" dirty="0">
                <a:solidFill>
                  <a:srgbClr val="000000"/>
                </a:solidFill>
                <a:latin typeface="Forum"/>
                <a:ea typeface="Forum"/>
                <a:cs typeface="Forum"/>
                <a:sym typeface="Forum"/>
              </a:rPr>
              <a:t> da </a:t>
            </a:r>
            <a:r>
              <a:rPr lang="en-US" sz="2800" dirty="0" err="1">
                <a:solidFill>
                  <a:srgbClr val="000000"/>
                </a:solidFill>
                <a:latin typeface="Forum"/>
                <a:ea typeface="Forum"/>
                <a:cs typeface="Forum"/>
                <a:sym typeface="Forum"/>
              </a:rPr>
              <a:t>büyük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resimlerde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yavaş</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çalışmasına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neden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olur</a:t>
            </a:r>
            <a:r>
              <a:rPr lang="en-US" sz="2800" dirty="0">
                <a:solidFill>
                  <a:srgbClr val="000000"/>
                </a:solidFill>
                <a:latin typeface="Forum"/>
                <a:ea typeface="Forum"/>
                <a:cs typeface="Forum"/>
                <a:sym typeface="Forum"/>
              </a:rPr>
              <a:t>.</a:t>
            </a:r>
          </a:p>
          <a:p>
            <a:pPr algn="l">
              <a:lnSpc>
                <a:spcPts val="3920"/>
              </a:lnSpc>
            </a:pPr>
            <a:r>
              <a:rPr lang="en-US" sz="2800" dirty="0">
                <a:solidFill>
                  <a:srgbClr val="000000"/>
                </a:solidFill>
                <a:latin typeface="Forum"/>
                <a:ea typeface="Forum"/>
                <a:cs typeface="Forum"/>
                <a:sym typeface="Forum"/>
              </a:rPr>
              <a:t>Integral Image </a:t>
            </a:r>
            <a:r>
              <a:rPr lang="en-US" sz="2800" dirty="0" err="1">
                <a:solidFill>
                  <a:srgbClr val="000000"/>
                </a:solidFill>
                <a:latin typeface="Forum"/>
                <a:ea typeface="Forum"/>
                <a:cs typeface="Forum"/>
                <a:sym typeface="Forum"/>
              </a:rPr>
              <a:t>yöntemi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ise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herhangi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dikdörtgen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alanın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piksel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toplamını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yalnızca</a:t>
            </a:r>
            <a:r>
              <a:rPr lang="en-US" sz="2800" dirty="0">
                <a:solidFill>
                  <a:srgbClr val="000000"/>
                </a:solidFill>
                <a:latin typeface="Forum"/>
                <a:ea typeface="Forum"/>
                <a:cs typeface="Forum"/>
                <a:sym typeface="Forum"/>
              </a:rPr>
              <a:t> 4 </a:t>
            </a:r>
            <a:r>
              <a:rPr lang="en-US" sz="2800" dirty="0" err="1">
                <a:solidFill>
                  <a:srgbClr val="000000"/>
                </a:solidFill>
                <a:latin typeface="Forum"/>
                <a:ea typeface="Forum"/>
                <a:cs typeface="Forum"/>
                <a:sym typeface="Forum"/>
              </a:rPr>
              <a:t>noktadan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hesaplayarak</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bu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işlemi</a:t>
            </a:r>
            <a:r>
              <a:rPr lang="en-US" sz="2800" dirty="0">
                <a:solidFill>
                  <a:srgbClr val="000000"/>
                </a:solidFill>
                <a:latin typeface="Forum"/>
                <a:ea typeface="Forum"/>
                <a:cs typeface="Forum"/>
                <a:sym typeface="Forum"/>
              </a:rPr>
              <a:t> O(1) zaman </a:t>
            </a:r>
            <a:r>
              <a:rPr lang="en-US" sz="2800" dirty="0" err="1">
                <a:solidFill>
                  <a:srgbClr val="000000"/>
                </a:solidFill>
                <a:latin typeface="Forum"/>
                <a:ea typeface="Forum"/>
                <a:cs typeface="Forum"/>
                <a:sym typeface="Forum"/>
              </a:rPr>
              <a:t>karmaşıklığına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indirger</a:t>
            </a:r>
            <a:r>
              <a:rPr lang="en-US" sz="2800" dirty="0">
                <a:solidFill>
                  <a:srgbClr val="000000"/>
                </a:solidFill>
                <a:latin typeface="Forum"/>
                <a:ea typeface="Forum"/>
                <a:cs typeface="Forum"/>
                <a:sym typeface="Forum"/>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1777467"/>
            <a:ext cx="3078391" cy="2290022"/>
          </a:xfrm>
          <a:custGeom>
            <a:avLst/>
            <a:gdLst/>
            <a:ahLst/>
            <a:cxnLst/>
            <a:rect l="l" t="t" r="r" b="b"/>
            <a:pathLst>
              <a:path w="3078391" h="2290022">
                <a:moveTo>
                  <a:pt x="0" y="0"/>
                </a:moveTo>
                <a:lnTo>
                  <a:pt x="3078391" y="0"/>
                </a:lnTo>
                <a:lnTo>
                  <a:pt x="3078391" y="2290023"/>
                </a:lnTo>
                <a:lnTo>
                  <a:pt x="0" y="2290023"/>
                </a:lnTo>
                <a:lnTo>
                  <a:pt x="0" y="0"/>
                </a:lnTo>
                <a:close/>
              </a:path>
            </a:pathLst>
          </a:custGeom>
          <a:blipFill>
            <a:blip r:embed="rId2"/>
            <a:stretch>
              <a:fillRect/>
            </a:stretch>
          </a:blipFill>
        </p:spPr>
        <p:txBody>
          <a:bodyPr/>
          <a:lstStyle/>
          <a:p>
            <a:endParaRPr lang="tr-TR"/>
          </a:p>
        </p:txBody>
      </p:sp>
      <p:sp>
        <p:nvSpPr>
          <p:cNvPr id="3" name="AutoShape 3"/>
          <p:cNvSpPr/>
          <p:nvPr/>
        </p:nvSpPr>
        <p:spPr>
          <a:xfrm>
            <a:off x="5338441" y="2941529"/>
            <a:ext cx="3610915" cy="0"/>
          </a:xfrm>
          <a:prstGeom prst="line">
            <a:avLst/>
          </a:prstGeom>
          <a:ln w="38100" cap="flat">
            <a:solidFill>
              <a:srgbClr val="000000"/>
            </a:solidFill>
            <a:prstDash val="solid"/>
            <a:headEnd type="none" w="sm" len="sm"/>
            <a:tailEnd type="arrow" w="med" len="sm"/>
          </a:ln>
        </p:spPr>
        <p:txBody>
          <a:bodyPr/>
          <a:lstStyle/>
          <a:p>
            <a:endParaRPr lang="tr-TR"/>
          </a:p>
        </p:txBody>
      </p:sp>
      <p:sp>
        <p:nvSpPr>
          <p:cNvPr id="4" name="Freeform 4"/>
          <p:cNvSpPr/>
          <p:nvPr/>
        </p:nvSpPr>
        <p:spPr>
          <a:xfrm>
            <a:off x="9918682" y="1777467"/>
            <a:ext cx="3057599" cy="2281532"/>
          </a:xfrm>
          <a:custGeom>
            <a:avLst/>
            <a:gdLst/>
            <a:ahLst/>
            <a:cxnLst/>
            <a:rect l="l" t="t" r="r" b="b"/>
            <a:pathLst>
              <a:path w="3057599" h="2281532">
                <a:moveTo>
                  <a:pt x="0" y="0"/>
                </a:moveTo>
                <a:lnTo>
                  <a:pt x="3057600" y="0"/>
                </a:lnTo>
                <a:lnTo>
                  <a:pt x="3057600" y="2281533"/>
                </a:lnTo>
                <a:lnTo>
                  <a:pt x="0" y="2281533"/>
                </a:lnTo>
                <a:lnTo>
                  <a:pt x="0" y="0"/>
                </a:lnTo>
                <a:close/>
              </a:path>
            </a:pathLst>
          </a:custGeom>
          <a:blipFill>
            <a:blip r:embed="rId3"/>
            <a:stretch>
              <a:fillRect t="-5477" b="-6774"/>
            </a:stretch>
          </a:blipFill>
        </p:spPr>
        <p:txBody>
          <a:bodyPr/>
          <a:lstStyle/>
          <a:p>
            <a:endParaRPr lang="tr-TR"/>
          </a:p>
        </p:txBody>
      </p:sp>
      <p:sp>
        <p:nvSpPr>
          <p:cNvPr id="5" name="TextBox 5"/>
          <p:cNvSpPr txBox="1"/>
          <p:nvPr/>
        </p:nvSpPr>
        <p:spPr>
          <a:xfrm>
            <a:off x="1028700" y="952500"/>
            <a:ext cx="6210300" cy="471924"/>
          </a:xfrm>
          <a:prstGeom prst="rect">
            <a:avLst/>
          </a:prstGeom>
        </p:spPr>
        <p:txBody>
          <a:bodyPr wrap="square" lIns="0" tIns="0" rIns="0" bIns="0" rtlCol="0" anchor="t">
            <a:spAutoFit/>
          </a:bodyPr>
          <a:lstStyle/>
          <a:p>
            <a:pPr algn="ctr">
              <a:lnSpc>
                <a:spcPts val="3920"/>
              </a:lnSpc>
              <a:spcBef>
                <a:spcPct val="0"/>
              </a:spcBef>
            </a:pPr>
            <a:r>
              <a:rPr lang="en-US" sz="2800" dirty="0" err="1">
                <a:solidFill>
                  <a:srgbClr val="000000"/>
                </a:solidFill>
                <a:latin typeface="Forum"/>
                <a:ea typeface="Forum"/>
                <a:cs typeface="Forum"/>
                <a:sym typeface="Forum"/>
              </a:rPr>
              <a:t>Örneğin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küçük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resmimiz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alttaki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gibi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olursa</a:t>
            </a:r>
            <a:endParaRPr lang="en-US" sz="2800" dirty="0">
              <a:solidFill>
                <a:srgbClr val="000000"/>
              </a:solidFill>
              <a:latin typeface="Forum"/>
              <a:ea typeface="Forum"/>
              <a:cs typeface="Forum"/>
              <a:sym typeface="Forum"/>
            </a:endParaRPr>
          </a:p>
        </p:txBody>
      </p:sp>
      <p:sp>
        <p:nvSpPr>
          <p:cNvPr id="6" name="TextBox 6"/>
          <p:cNvSpPr txBox="1"/>
          <p:nvPr/>
        </p:nvSpPr>
        <p:spPr>
          <a:xfrm>
            <a:off x="6174804" y="2263243"/>
            <a:ext cx="1978596" cy="464358"/>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Antonio"/>
                <a:ea typeface="Antonio"/>
                <a:cs typeface="Antonio"/>
                <a:sym typeface="Antonio"/>
              </a:rPr>
              <a:t>integral image</a:t>
            </a:r>
          </a:p>
        </p:txBody>
      </p:sp>
      <p:sp>
        <p:nvSpPr>
          <p:cNvPr id="7" name="Freeform 7"/>
          <p:cNvSpPr/>
          <p:nvPr/>
        </p:nvSpPr>
        <p:spPr>
          <a:xfrm>
            <a:off x="1028700" y="6434455"/>
            <a:ext cx="1712670" cy="1948389"/>
          </a:xfrm>
          <a:custGeom>
            <a:avLst/>
            <a:gdLst/>
            <a:ahLst/>
            <a:cxnLst/>
            <a:rect l="l" t="t" r="r" b="b"/>
            <a:pathLst>
              <a:path w="1712670" h="1948389">
                <a:moveTo>
                  <a:pt x="0" y="0"/>
                </a:moveTo>
                <a:lnTo>
                  <a:pt x="1712670" y="0"/>
                </a:lnTo>
                <a:lnTo>
                  <a:pt x="1712670" y="1948388"/>
                </a:lnTo>
                <a:lnTo>
                  <a:pt x="0" y="1948388"/>
                </a:lnTo>
                <a:lnTo>
                  <a:pt x="0" y="0"/>
                </a:lnTo>
                <a:close/>
              </a:path>
            </a:pathLst>
          </a:custGeom>
          <a:blipFill>
            <a:blip r:embed="rId4"/>
            <a:stretch>
              <a:fillRect t="-39421" r="-69084"/>
            </a:stretch>
          </a:blipFill>
        </p:spPr>
        <p:txBody>
          <a:bodyPr/>
          <a:lstStyle/>
          <a:p>
            <a:endParaRPr lang="tr-TR"/>
          </a:p>
        </p:txBody>
      </p:sp>
      <p:sp>
        <p:nvSpPr>
          <p:cNvPr id="8" name="Freeform 8"/>
          <p:cNvSpPr/>
          <p:nvPr/>
        </p:nvSpPr>
        <p:spPr>
          <a:xfrm>
            <a:off x="3859631" y="6564774"/>
            <a:ext cx="7119070" cy="1818069"/>
          </a:xfrm>
          <a:custGeom>
            <a:avLst/>
            <a:gdLst/>
            <a:ahLst/>
            <a:cxnLst/>
            <a:rect l="l" t="t" r="r" b="b"/>
            <a:pathLst>
              <a:path w="7119070" h="1818069">
                <a:moveTo>
                  <a:pt x="0" y="0"/>
                </a:moveTo>
                <a:lnTo>
                  <a:pt x="7119069" y="0"/>
                </a:lnTo>
                <a:lnTo>
                  <a:pt x="7119069" y="1818069"/>
                </a:lnTo>
                <a:lnTo>
                  <a:pt x="0" y="1818069"/>
                </a:lnTo>
                <a:lnTo>
                  <a:pt x="0" y="0"/>
                </a:lnTo>
                <a:close/>
              </a:path>
            </a:pathLst>
          </a:custGeom>
          <a:blipFill>
            <a:blip r:embed="rId5"/>
            <a:stretch>
              <a:fillRect/>
            </a:stretch>
          </a:blipFill>
        </p:spPr>
        <p:txBody>
          <a:bodyPr/>
          <a:lstStyle/>
          <a:p>
            <a:endParaRPr lang="tr-TR"/>
          </a:p>
        </p:txBody>
      </p:sp>
      <p:sp>
        <p:nvSpPr>
          <p:cNvPr id="9" name="TextBox 9"/>
          <p:cNvSpPr txBox="1"/>
          <p:nvPr/>
        </p:nvSpPr>
        <p:spPr>
          <a:xfrm>
            <a:off x="1028700" y="5067300"/>
            <a:ext cx="13735050" cy="995680"/>
          </a:xfrm>
          <a:prstGeom prst="rect">
            <a:avLst/>
          </a:prstGeom>
        </p:spPr>
        <p:txBody>
          <a:bodyPr lIns="0" tIns="0" rIns="0" bIns="0" rtlCol="0" anchor="t">
            <a:spAutoFit/>
          </a:bodyPr>
          <a:lstStyle/>
          <a:p>
            <a:pPr algn="l">
              <a:lnSpc>
                <a:spcPts val="3920"/>
              </a:lnSpc>
            </a:pPr>
            <a:r>
              <a:rPr lang="en-US" sz="2800">
                <a:solidFill>
                  <a:srgbClr val="000000"/>
                </a:solidFill>
                <a:latin typeface="Forum"/>
                <a:ea typeface="Forum"/>
                <a:cs typeface="Forum"/>
                <a:sym typeface="Forum"/>
              </a:rPr>
              <a:t>Görüntüdeki her bir piksel için kendisi , kendisinin solundaki ve üstündeki pikselleri toplayarak </a:t>
            </a:r>
          </a:p>
          <a:p>
            <a:pPr algn="l">
              <a:lnSpc>
                <a:spcPts val="3920"/>
              </a:lnSpc>
              <a:spcBef>
                <a:spcPct val="0"/>
              </a:spcBef>
            </a:pPr>
            <a:r>
              <a:rPr lang="en-US" sz="2800">
                <a:solidFill>
                  <a:srgbClr val="000000"/>
                </a:solidFill>
                <a:latin typeface="Forum"/>
                <a:ea typeface="Forum"/>
                <a:cs typeface="Forum"/>
                <a:sym typeface="Forum"/>
              </a:rPr>
              <a:t>integral image oluşturur sonra istediğimiz bölgeyle ilgili 4 köşeyi nokta olarak belirler. </a:t>
            </a:r>
          </a:p>
        </p:txBody>
      </p:sp>
      <p:sp>
        <p:nvSpPr>
          <p:cNvPr id="10" name="TextBox 10"/>
          <p:cNvSpPr txBox="1"/>
          <p:nvPr/>
        </p:nvSpPr>
        <p:spPr>
          <a:xfrm>
            <a:off x="1028700" y="8757920"/>
            <a:ext cx="11314212" cy="500380"/>
          </a:xfrm>
          <a:prstGeom prst="rect">
            <a:avLst/>
          </a:prstGeom>
        </p:spPr>
        <p:txBody>
          <a:bodyPr lIns="0" tIns="0" rIns="0" bIns="0" rtlCol="0" anchor="t">
            <a:spAutoFit/>
          </a:bodyPr>
          <a:lstStyle/>
          <a:p>
            <a:pPr algn="ctr">
              <a:lnSpc>
                <a:spcPts val="3920"/>
              </a:lnSpc>
              <a:spcBef>
                <a:spcPct val="0"/>
              </a:spcBef>
            </a:pPr>
            <a:r>
              <a:rPr lang="en-US" sz="2800">
                <a:solidFill>
                  <a:srgbClr val="000000"/>
                </a:solidFill>
                <a:latin typeface="Forum"/>
                <a:ea typeface="Forum"/>
                <a:cs typeface="Forum"/>
                <a:sym typeface="Forum"/>
              </a:rPr>
              <a:t>Bu bölgenin parlaklığı hesaplanırken Büyük toplam - Üstü ve Solu + Ortak alan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860327" y="6373633"/>
            <a:ext cx="2884667" cy="2884667"/>
          </a:xfrm>
          <a:custGeom>
            <a:avLst/>
            <a:gdLst/>
            <a:ahLst/>
            <a:cxnLst/>
            <a:rect l="l" t="t" r="r" b="b"/>
            <a:pathLst>
              <a:path w="2884667" h="2884667">
                <a:moveTo>
                  <a:pt x="0" y="0"/>
                </a:moveTo>
                <a:lnTo>
                  <a:pt x="2884666" y="0"/>
                </a:lnTo>
                <a:lnTo>
                  <a:pt x="2884666" y="2884667"/>
                </a:lnTo>
                <a:lnTo>
                  <a:pt x="0" y="2884667"/>
                </a:lnTo>
                <a:lnTo>
                  <a:pt x="0" y="0"/>
                </a:lnTo>
                <a:close/>
              </a:path>
            </a:pathLst>
          </a:custGeom>
          <a:blipFill>
            <a:blip r:embed="rId2"/>
            <a:stretch>
              <a:fillRect/>
            </a:stretch>
          </a:blipFill>
        </p:spPr>
        <p:txBody>
          <a:bodyPr/>
          <a:lstStyle/>
          <a:p>
            <a:endParaRPr lang="tr-TR"/>
          </a:p>
        </p:txBody>
      </p:sp>
      <p:sp>
        <p:nvSpPr>
          <p:cNvPr id="3" name="TextBox 3"/>
          <p:cNvSpPr txBox="1"/>
          <p:nvPr/>
        </p:nvSpPr>
        <p:spPr>
          <a:xfrm>
            <a:off x="1028700" y="962025"/>
            <a:ext cx="7097255" cy="580390"/>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Antonio"/>
                <a:ea typeface="Antonio"/>
                <a:cs typeface="Antonio"/>
                <a:sym typeface="Antonio"/>
              </a:rPr>
              <a:t>Cascade = Aşama aşama karar mekanizması</a:t>
            </a:r>
          </a:p>
        </p:txBody>
      </p:sp>
      <p:sp>
        <p:nvSpPr>
          <p:cNvPr id="4" name="TextBox 4"/>
          <p:cNvSpPr txBox="1"/>
          <p:nvPr/>
        </p:nvSpPr>
        <p:spPr>
          <a:xfrm>
            <a:off x="1028700" y="1968759"/>
            <a:ext cx="16230600" cy="1490980"/>
          </a:xfrm>
          <a:prstGeom prst="rect">
            <a:avLst/>
          </a:prstGeom>
        </p:spPr>
        <p:txBody>
          <a:bodyPr lIns="0" tIns="0" rIns="0" bIns="0" rtlCol="0" anchor="t">
            <a:spAutoFit/>
          </a:bodyPr>
          <a:lstStyle/>
          <a:p>
            <a:pPr algn="l">
              <a:lnSpc>
                <a:spcPts val="3920"/>
              </a:lnSpc>
            </a:pPr>
            <a:r>
              <a:rPr lang="en-US" sz="2800">
                <a:solidFill>
                  <a:srgbClr val="000000"/>
                </a:solidFill>
                <a:latin typeface="Forum"/>
                <a:ea typeface="Forum"/>
                <a:cs typeface="Forum"/>
                <a:sym typeface="Forum"/>
              </a:rPr>
              <a:t>Cascade yapısı, başlangıçta görüntü üzerinde 24×24 boyutlu bir pencereyi kaydırarak çok sayıda Haar feature test eder ve yüz olmayan bölgeleri erken aşamalarda eleyerek, tüm görüntüyü ayrıntılı şekilde incelemek yerine yalnızca yüz olma ihtimali yüksek bölgeler üzerinde yoğunlaşır.</a:t>
            </a:r>
          </a:p>
        </p:txBody>
      </p:sp>
      <p:sp>
        <p:nvSpPr>
          <p:cNvPr id="5" name="TextBox 5"/>
          <p:cNvSpPr txBox="1"/>
          <p:nvPr/>
        </p:nvSpPr>
        <p:spPr>
          <a:xfrm>
            <a:off x="1028700" y="3897889"/>
            <a:ext cx="3859560"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ntonio"/>
                <a:ea typeface="Antonio"/>
                <a:cs typeface="Antonio"/>
                <a:sym typeface="Antonio"/>
              </a:rPr>
              <a:t>DetectMultiScale nedir :</a:t>
            </a:r>
          </a:p>
        </p:txBody>
      </p:sp>
      <p:sp>
        <p:nvSpPr>
          <p:cNvPr id="6" name="TextBox 6"/>
          <p:cNvSpPr txBox="1"/>
          <p:nvPr/>
        </p:nvSpPr>
        <p:spPr>
          <a:xfrm>
            <a:off x="1028700" y="4574884"/>
            <a:ext cx="13906500" cy="1472198"/>
          </a:xfrm>
          <a:prstGeom prst="rect">
            <a:avLst/>
          </a:prstGeom>
        </p:spPr>
        <p:txBody>
          <a:bodyPr wrap="square" lIns="0" tIns="0" rIns="0" bIns="0" rtlCol="0" anchor="t">
            <a:spAutoFit/>
          </a:bodyPr>
          <a:lstStyle/>
          <a:p>
            <a:pPr algn="l">
              <a:lnSpc>
                <a:spcPts val="3920"/>
              </a:lnSpc>
              <a:spcBef>
                <a:spcPct val="0"/>
              </a:spcBef>
            </a:pP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Haarcascade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algoritmasının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görüntüyü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farklı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ölçeklerde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tarayarak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tespiti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yapmasını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sağlayan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fonksiyondur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 Bu </a:t>
            </a:r>
            <a:r>
              <a:rPr lang="en-US" sz="2800" dirty="0" err="1">
                <a:solidFill>
                  <a:srgbClr val="000000"/>
                </a:solidFill>
                <a:latin typeface="Forum"/>
                <a:ea typeface="Forum"/>
                <a:cs typeface="Forum"/>
                <a:sym typeface="Forum"/>
              </a:rPr>
              <a:t>fonksiyon</a:t>
            </a:r>
            <a:r>
              <a:rPr lang="en-US" sz="2800" dirty="0">
                <a:solidFill>
                  <a:srgbClr val="000000"/>
                </a:solidFill>
                <a:latin typeface="Forum"/>
                <a:ea typeface="Forum"/>
                <a:cs typeface="Forum"/>
                <a:sym typeface="Forum"/>
              </a:rPr>
              <a:t>, cascade </a:t>
            </a:r>
            <a:r>
              <a:rPr lang="en-US" sz="2800" dirty="0" err="1">
                <a:solidFill>
                  <a:srgbClr val="000000"/>
                </a:solidFill>
                <a:latin typeface="Forum"/>
                <a:ea typeface="Forum"/>
                <a:cs typeface="Forum"/>
                <a:sym typeface="Forum"/>
              </a:rPr>
              <a:t>yapısını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çalıştırır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tespit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edilen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bölgeleri</a:t>
            </a:r>
            <a:r>
              <a:rPr lang="en-US" sz="2800" dirty="0">
                <a:solidFill>
                  <a:srgbClr val="000000"/>
                </a:solidFill>
                <a:latin typeface="Forum"/>
                <a:ea typeface="Forum"/>
                <a:cs typeface="Forum"/>
                <a:sym typeface="Forum"/>
              </a:rPr>
              <a:t> (x, y, w, h) </a:t>
            </a:r>
            <a:r>
              <a:rPr lang="en-US" sz="2800" dirty="0" err="1">
                <a:solidFill>
                  <a:srgbClr val="000000"/>
                </a:solidFill>
                <a:latin typeface="Forum"/>
                <a:ea typeface="Forum"/>
                <a:cs typeface="Forum"/>
                <a:sym typeface="Forum"/>
              </a:rPr>
              <a:t>biçiminde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döndürür</a:t>
            </a:r>
            <a:r>
              <a:rPr lang="en-US" sz="2800" dirty="0">
                <a:solidFill>
                  <a:srgbClr val="000000"/>
                </a:solidFill>
                <a:latin typeface="Forum"/>
                <a:ea typeface="Forum"/>
                <a:cs typeface="Forum"/>
                <a:sym typeface="Forum"/>
              </a:rPr>
              <a:t>.</a:t>
            </a:r>
          </a:p>
        </p:txBody>
      </p:sp>
      <p:sp>
        <p:nvSpPr>
          <p:cNvPr id="7" name="TextBox 7"/>
          <p:cNvSpPr txBox="1"/>
          <p:nvPr/>
        </p:nvSpPr>
        <p:spPr>
          <a:xfrm>
            <a:off x="1140172" y="6297433"/>
            <a:ext cx="7733705" cy="2481580"/>
          </a:xfrm>
          <a:prstGeom prst="rect">
            <a:avLst/>
          </a:prstGeom>
        </p:spPr>
        <p:txBody>
          <a:bodyPr lIns="0" tIns="0" rIns="0" bIns="0" rtlCol="0" anchor="t">
            <a:spAutoFit/>
          </a:bodyPr>
          <a:lstStyle/>
          <a:p>
            <a:pPr algn="just">
              <a:lnSpc>
                <a:spcPts val="3920"/>
              </a:lnSpc>
            </a:pPr>
            <a:r>
              <a:rPr lang="en-US" sz="2800" dirty="0">
                <a:solidFill>
                  <a:srgbClr val="000000"/>
                </a:solidFill>
                <a:latin typeface="Forum"/>
                <a:ea typeface="Forum"/>
                <a:cs typeface="Forum"/>
                <a:sym typeface="Forum"/>
              </a:rPr>
              <a:t>x =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kutusunun</a:t>
            </a:r>
            <a:r>
              <a:rPr lang="en-US" sz="2800" dirty="0">
                <a:solidFill>
                  <a:srgbClr val="000000"/>
                </a:solidFill>
                <a:latin typeface="Forum"/>
                <a:ea typeface="Forum"/>
                <a:cs typeface="Forum"/>
                <a:sym typeface="Forum"/>
              </a:rPr>
              <a:t> sol-</a:t>
            </a:r>
            <a:r>
              <a:rPr lang="en-US" sz="2800" dirty="0" err="1">
                <a:solidFill>
                  <a:srgbClr val="000000"/>
                </a:solidFill>
                <a:latin typeface="Forum"/>
                <a:ea typeface="Forum"/>
                <a:cs typeface="Forum"/>
                <a:sym typeface="Forum"/>
              </a:rPr>
              <a:t>üst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köşesinin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yatay</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koordinatı</a:t>
            </a:r>
            <a:r>
              <a:rPr lang="en-US" sz="2800" dirty="0">
                <a:solidFill>
                  <a:srgbClr val="000000"/>
                </a:solidFill>
                <a:latin typeface="Forum"/>
                <a:ea typeface="Forum"/>
                <a:cs typeface="Forum"/>
                <a:sym typeface="Forum"/>
              </a:rPr>
              <a:t>  </a:t>
            </a:r>
          </a:p>
          <a:p>
            <a:pPr algn="just">
              <a:lnSpc>
                <a:spcPts val="3920"/>
              </a:lnSpc>
            </a:pPr>
            <a:r>
              <a:rPr lang="en-US" sz="2800" dirty="0">
                <a:solidFill>
                  <a:srgbClr val="000000"/>
                </a:solidFill>
                <a:latin typeface="Forum"/>
                <a:ea typeface="Forum"/>
                <a:cs typeface="Forum"/>
                <a:sym typeface="Forum"/>
              </a:rPr>
              <a:t>y =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kutusunun</a:t>
            </a:r>
            <a:r>
              <a:rPr lang="en-US" sz="2800" dirty="0">
                <a:solidFill>
                  <a:srgbClr val="000000"/>
                </a:solidFill>
                <a:latin typeface="Forum"/>
                <a:ea typeface="Forum"/>
                <a:cs typeface="Forum"/>
                <a:sym typeface="Forum"/>
              </a:rPr>
              <a:t> sol-</a:t>
            </a:r>
            <a:r>
              <a:rPr lang="en-US" sz="2800" dirty="0" err="1">
                <a:solidFill>
                  <a:srgbClr val="000000"/>
                </a:solidFill>
                <a:latin typeface="Forum"/>
                <a:ea typeface="Forum"/>
                <a:cs typeface="Forum"/>
                <a:sym typeface="Forum"/>
              </a:rPr>
              <a:t>üst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köşesinin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dikey</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koordinatı</a:t>
            </a:r>
            <a:endParaRPr lang="en-US" sz="2800" dirty="0">
              <a:solidFill>
                <a:srgbClr val="000000"/>
              </a:solidFill>
              <a:latin typeface="Forum"/>
              <a:ea typeface="Forum"/>
              <a:cs typeface="Forum"/>
              <a:sym typeface="Forum"/>
            </a:endParaRPr>
          </a:p>
          <a:p>
            <a:pPr algn="just">
              <a:lnSpc>
                <a:spcPts val="3920"/>
              </a:lnSpc>
            </a:pPr>
            <a:r>
              <a:rPr lang="en-US" sz="2800" dirty="0">
                <a:solidFill>
                  <a:srgbClr val="000000"/>
                </a:solidFill>
                <a:latin typeface="Forum"/>
                <a:ea typeface="Forum"/>
                <a:cs typeface="Forum"/>
                <a:sym typeface="Forum"/>
              </a:rPr>
              <a:t>w =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kutusunun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genişliği</a:t>
            </a:r>
            <a:r>
              <a:rPr lang="en-US" sz="2800" dirty="0">
                <a:solidFill>
                  <a:srgbClr val="000000"/>
                </a:solidFill>
                <a:latin typeface="Forum"/>
                <a:ea typeface="Forum"/>
                <a:cs typeface="Forum"/>
                <a:sym typeface="Forum"/>
              </a:rPr>
              <a:t>  </a:t>
            </a:r>
          </a:p>
          <a:p>
            <a:pPr algn="just">
              <a:lnSpc>
                <a:spcPts val="3920"/>
              </a:lnSpc>
            </a:pPr>
            <a:r>
              <a:rPr lang="en-US" sz="2800" dirty="0">
                <a:solidFill>
                  <a:srgbClr val="000000"/>
                </a:solidFill>
                <a:latin typeface="Forum"/>
                <a:ea typeface="Forum"/>
                <a:cs typeface="Forum"/>
                <a:sym typeface="Forum"/>
              </a:rPr>
              <a:t>h =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kutusunun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yüksekliği</a:t>
            </a:r>
            <a:endParaRPr lang="en-US" sz="2800" dirty="0">
              <a:solidFill>
                <a:srgbClr val="000000"/>
              </a:solidFill>
              <a:latin typeface="Forum"/>
              <a:ea typeface="Forum"/>
              <a:cs typeface="Forum"/>
              <a:sym typeface="Forum"/>
            </a:endParaRPr>
          </a:p>
          <a:p>
            <a:pPr algn="just">
              <a:lnSpc>
                <a:spcPts val="3920"/>
              </a:lnSpc>
            </a:pPr>
            <a:endParaRPr lang="en-US" sz="2800" dirty="0">
              <a:solidFill>
                <a:srgbClr val="000000"/>
              </a:solidFill>
              <a:latin typeface="Forum"/>
              <a:ea typeface="Forum"/>
              <a:cs typeface="Forum"/>
              <a:sym typeface="For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962025"/>
            <a:ext cx="1614041"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ntonio"/>
                <a:ea typeface="Antonio"/>
                <a:cs typeface="Antonio"/>
                <a:sym typeface="Antonio"/>
              </a:rPr>
              <a:t>Padding : </a:t>
            </a:r>
          </a:p>
        </p:txBody>
      </p:sp>
      <p:sp>
        <p:nvSpPr>
          <p:cNvPr id="3" name="TextBox 3"/>
          <p:cNvSpPr txBox="1"/>
          <p:nvPr/>
        </p:nvSpPr>
        <p:spPr>
          <a:xfrm>
            <a:off x="1028700" y="1703414"/>
            <a:ext cx="15220958" cy="1986280"/>
          </a:xfrm>
          <a:prstGeom prst="rect">
            <a:avLst/>
          </a:prstGeom>
        </p:spPr>
        <p:txBody>
          <a:bodyPr lIns="0" tIns="0" rIns="0" bIns="0" rtlCol="0" anchor="t">
            <a:spAutoFit/>
          </a:bodyPr>
          <a:lstStyle/>
          <a:p>
            <a:pPr algn="l">
              <a:lnSpc>
                <a:spcPts val="3920"/>
              </a:lnSpc>
            </a:pPr>
            <a:r>
              <a:rPr lang="en-US" sz="2800" dirty="0" err="1">
                <a:solidFill>
                  <a:srgbClr val="000000"/>
                </a:solidFill>
                <a:latin typeface="Forum"/>
                <a:ea typeface="Forum"/>
                <a:cs typeface="Forum"/>
                <a:sym typeface="Forum"/>
              </a:rPr>
              <a:t>Haarcascade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tespit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ederken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çene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kenarları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saç</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çizgisini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çoğu</a:t>
            </a:r>
            <a:r>
              <a:rPr lang="en-US" sz="2800" dirty="0">
                <a:solidFill>
                  <a:srgbClr val="000000"/>
                </a:solidFill>
                <a:latin typeface="Forum"/>
                <a:ea typeface="Forum"/>
                <a:cs typeface="Forum"/>
                <a:sym typeface="Forum"/>
              </a:rPr>
              <a:t> zaman </a:t>
            </a:r>
            <a:r>
              <a:rPr lang="en-US" sz="2800" dirty="0" err="1">
                <a:solidFill>
                  <a:srgbClr val="000000"/>
                </a:solidFill>
                <a:latin typeface="Forum"/>
                <a:ea typeface="Forum"/>
                <a:cs typeface="Forum"/>
                <a:sym typeface="Forum"/>
              </a:rPr>
              <a:t>sınırda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bıraktığı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kırpılan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görüntüsü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sıkışık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bilgi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kayıplı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olabilir</a:t>
            </a:r>
            <a:r>
              <a:rPr lang="en-US" sz="2800" dirty="0">
                <a:solidFill>
                  <a:srgbClr val="000000"/>
                </a:solidFill>
                <a:latin typeface="Forum"/>
                <a:ea typeface="Forum"/>
                <a:cs typeface="Forum"/>
                <a:sym typeface="Forum"/>
              </a:rPr>
              <a:t>.</a:t>
            </a:r>
          </a:p>
          <a:p>
            <a:pPr algn="l">
              <a:lnSpc>
                <a:spcPts val="3920"/>
              </a:lnSpc>
              <a:spcBef>
                <a:spcPct val="0"/>
              </a:spcBef>
            </a:pPr>
            <a:r>
              <a:rPr lang="en-US" sz="2800" dirty="0">
                <a:solidFill>
                  <a:srgbClr val="000000"/>
                </a:solidFill>
                <a:latin typeface="Forum"/>
                <a:ea typeface="Forum"/>
                <a:cs typeface="Forum"/>
                <a:sym typeface="Forum"/>
              </a:rPr>
              <a:t>Padding </a:t>
            </a:r>
            <a:r>
              <a:rPr lang="en-US" sz="2800" dirty="0" err="1">
                <a:solidFill>
                  <a:srgbClr val="000000"/>
                </a:solidFill>
                <a:latin typeface="Forum"/>
                <a:ea typeface="Forum"/>
                <a:cs typeface="Forum"/>
                <a:sym typeface="Forum"/>
              </a:rPr>
              <a:t>stratejisi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kırpılacak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alanı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belirlenen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oranda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genişleterek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hatlarının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korunmasını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daha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sağlıklı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kırpımı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elde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edilmesini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sağlar</a:t>
            </a:r>
            <a:r>
              <a:rPr lang="en-US" sz="2800" dirty="0">
                <a:solidFill>
                  <a:srgbClr val="000000"/>
                </a:solidFill>
                <a:latin typeface="Forum"/>
                <a:ea typeface="Forum"/>
                <a:cs typeface="Forum"/>
                <a:sym typeface="Forum"/>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962025"/>
            <a:ext cx="5363319"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ntonio"/>
                <a:ea typeface="Antonio"/>
                <a:cs typeface="Antonio"/>
                <a:sym typeface="Antonio"/>
              </a:rPr>
              <a:t>Öznitelik Çıkarımı: Yüzden Sayıya </a:t>
            </a:r>
          </a:p>
        </p:txBody>
      </p:sp>
      <p:sp>
        <p:nvSpPr>
          <p:cNvPr id="3" name="TextBox 3"/>
          <p:cNvSpPr txBox="1"/>
          <p:nvPr/>
        </p:nvSpPr>
        <p:spPr>
          <a:xfrm>
            <a:off x="1028700" y="1979319"/>
            <a:ext cx="10987832" cy="995680"/>
          </a:xfrm>
          <a:prstGeom prst="rect">
            <a:avLst/>
          </a:prstGeom>
        </p:spPr>
        <p:txBody>
          <a:bodyPr lIns="0" tIns="0" rIns="0" bIns="0" rtlCol="0" anchor="t">
            <a:spAutoFit/>
          </a:bodyPr>
          <a:lstStyle/>
          <a:p>
            <a:pPr marL="604523" lvl="1" indent="-302261" algn="l">
              <a:lnSpc>
                <a:spcPts val="3920"/>
              </a:lnSpc>
              <a:buFont typeface="Arial"/>
              <a:buChar char="•"/>
            </a:pPr>
            <a:r>
              <a:rPr lang="en-US" sz="2800">
                <a:solidFill>
                  <a:srgbClr val="000000"/>
                </a:solidFill>
                <a:latin typeface="Forum"/>
                <a:ea typeface="Forum"/>
                <a:cs typeface="Forum"/>
                <a:sym typeface="Forum"/>
              </a:rPr>
              <a:t>Dijital Kimlik (Embedding): Bilgisayarlar resimleri göremez, sayıları görür. </a:t>
            </a:r>
          </a:p>
          <a:p>
            <a:pPr algn="l">
              <a:lnSpc>
                <a:spcPts val="3920"/>
              </a:lnSpc>
            </a:pPr>
            <a:r>
              <a:rPr lang="en-US" sz="2800">
                <a:solidFill>
                  <a:srgbClr val="000000"/>
                </a:solidFill>
                <a:latin typeface="Forum"/>
                <a:ea typeface="Forum"/>
                <a:cs typeface="Forum"/>
                <a:sym typeface="Forum"/>
              </a:rPr>
              <a:t>Bu aşamada her yüz görüntüsü matematiksel bir forma dönüştürülmüştür.</a:t>
            </a:r>
          </a:p>
        </p:txBody>
      </p:sp>
      <p:sp>
        <p:nvSpPr>
          <p:cNvPr id="4" name="TextBox 4"/>
          <p:cNvSpPr txBox="1"/>
          <p:nvPr/>
        </p:nvSpPr>
        <p:spPr>
          <a:xfrm>
            <a:off x="1028700" y="3413149"/>
            <a:ext cx="13526988" cy="995680"/>
          </a:xfrm>
          <a:prstGeom prst="rect">
            <a:avLst/>
          </a:prstGeom>
        </p:spPr>
        <p:txBody>
          <a:bodyPr lIns="0" tIns="0" rIns="0" bIns="0" rtlCol="0" anchor="t">
            <a:spAutoFit/>
          </a:bodyPr>
          <a:lstStyle/>
          <a:p>
            <a:pPr marL="604523" lvl="1" indent="-302261" algn="ctr">
              <a:lnSpc>
                <a:spcPts val="3920"/>
              </a:lnSpc>
              <a:buFont typeface="Arial"/>
              <a:buChar char="•"/>
            </a:pPr>
            <a:r>
              <a:rPr lang="en-US" sz="2800">
                <a:solidFill>
                  <a:srgbClr val="000000"/>
                </a:solidFill>
                <a:latin typeface="Forum"/>
                <a:ea typeface="Forum"/>
                <a:cs typeface="Forum"/>
                <a:sym typeface="Forum"/>
              </a:rPr>
              <a:t>HOG (Histogram of Oriented Gradients): Yüzdeki ışık ve gölge değişimlerini analiz ederek </a:t>
            </a:r>
          </a:p>
          <a:p>
            <a:pPr algn="l">
              <a:lnSpc>
                <a:spcPts val="3920"/>
              </a:lnSpc>
            </a:pPr>
            <a:r>
              <a:rPr lang="en-US" sz="2800">
                <a:solidFill>
                  <a:srgbClr val="000000"/>
                </a:solidFill>
                <a:latin typeface="Forum"/>
                <a:ea typeface="Forum"/>
                <a:cs typeface="Forum"/>
                <a:sym typeface="Forum"/>
              </a:rPr>
              <a:t>yüzün haritasını çıkaran yöntem kullanılmıştır.</a:t>
            </a:r>
          </a:p>
        </p:txBody>
      </p:sp>
      <p:sp>
        <p:nvSpPr>
          <p:cNvPr id="5" name="TextBox 5"/>
          <p:cNvSpPr txBox="1"/>
          <p:nvPr/>
        </p:nvSpPr>
        <p:spPr>
          <a:xfrm>
            <a:off x="1028700" y="4846979"/>
            <a:ext cx="14929396" cy="995680"/>
          </a:xfrm>
          <a:prstGeom prst="rect">
            <a:avLst/>
          </a:prstGeom>
        </p:spPr>
        <p:txBody>
          <a:bodyPr lIns="0" tIns="0" rIns="0" bIns="0" rtlCol="0" anchor="t">
            <a:spAutoFit/>
          </a:bodyPr>
          <a:lstStyle/>
          <a:p>
            <a:pPr marL="604523" lvl="1" indent="-302261" algn="l">
              <a:lnSpc>
                <a:spcPts val="3920"/>
              </a:lnSpc>
              <a:buFont typeface="Arial"/>
              <a:buChar char="•"/>
            </a:pPr>
            <a:r>
              <a:rPr lang="en-US" sz="2800">
                <a:solidFill>
                  <a:srgbClr val="000000"/>
                </a:solidFill>
                <a:latin typeface="Forum"/>
                <a:ea typeface="Forum"/>
                <a:cs typeface="Forum"/>
                <a:sym typeface="Forum"/>
              </a:rPr>
              <a:t>128 Boyutlu Vektör: Her bir futbolcunun yüzü, onu benzersiz kılan 128 farklı sayısal değerden oluşan </a:t>
            </a:r>
          </a:p>
          <a:p>
            <a:pPr algn="l">
              <a:lnSpc>
                <a:spcPts val="3920"/>
              </a:lnSpc>
            </a:pPr>
            <a:r>
              <a:rPr lang="en-US" sz="2800">
                <a:solidFill>
                  <a:srgbClr val="000000"/>
                </a:solidFill>
                <a:latin typeface="Forum"/>
                <a:ea typeface="Forum"/>
                <a:cs typeface="Forum"/>
                <a:sym typeface="Forum"/>
              </a:rPr>
              <a:t>bir diziye (vektör) kodlanmıştır. Modelimiz resimleri değil, bu sayısal dizileri  öğrenmektedir.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789627"/>
            <a:ext cx="11620500" cy="1490980"/>
          </a:xfrm>
          <a:prstGeom prst="rect">
            <a:avLst/>
          </a:prstGeom>
        </p:spPr>
        <p:txBody>
          <a:bodyPr wrap="square" lIns="0" tIns="0" rIns="0" bIns="0" rtlCol="0" anchor="t">
            <a:spAutoFit/>
          </a:bodyPr>
          <a:lstStyle/>
          <a:p>
            <a:pPr algn="l">
              <a:lnSpc>
                <a:spcPts val="3920"/>
              </a:lnSpc>
              <a:spcBef>
                <a:spcPct val="0"/>
              </a:spcBef>
            </a:pPr>
            <a:r>
              <a:rPr lang="en-US" sz="2800" dirty="0">
                <a:solidFill>
                  <a:srgbClr val="000000"/>
                </a:solidFill>
                <a:latin typeface="Forum"/>
                <a:ea typeface="Forum"/>
                <a:cs typeface="Forum"/>
                <a:sym typeface="Forum"/>
              </a:rPr>
              <a:t>Amaç: </a:t>
            </a:r>
          </a:p>
          <a:p>
            <a:pPr algn="l">
              <a:lnSpc>
                <a:spcPts val="3920"/>
              </a:lnSpc>
              <a:spcBef>
                <a:spcPct val="0"/>
              </a:spcBef>
            </a:pPr>
            <a:r>
              <a:rPr lang="en-US" sz="2800" dirty="0" err="1">
                <a:solidFill>
                  <a:srgbClr val="000000"/>
                </a:solidFill>
                <a:latin typeface="Forum"/>
                <a:ea typeface="Forum"/>
                <a:cs typeface="Forum"/>
                <a:sym typeface="Forum"/>
              </a:rPr>
              <a:t>Kırpılmış</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görüntülerinden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sayısal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temsil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vektörleri</a:t>
            </a:r>
            <a:r>
              <a:rPr lang="en-US" sz="2800" dirty="0">
                <a:solidFill>
                  <a:srgbClr val="000000"/>
                </a:solidFill>
                <a:latin typeface="Forum"/>
                <a:ea typeface="Forum"/>
                <a:cs typeface="Forum"/>
                <a:sym typeface="Forum"/>
              </a:rPr>
              <a:t>(embedding) </a:t>
            </a:r>
            <a:r>
              <a:rPr lang="en-US" sz="2800" dirty="0" err="1">
                <a:solidFill>
                  <a:srgbClr val="000000"/>
                </a:solidFill>
                <a:latin typeface="Forum"/>
                <a:ea typeface="Forum"/>
                <a:cs typeface="Forum"/>
                <a:sym typeface="Forum"/>
              </a:rPr>
              <a:t>üretmek</a:t>
            </a:r>
            <a:r>
              <a:rPr lang="en-US" sz="2800" dirty="0">
                <a:solidFill>
                  <a:srgbClr val="000000"/>
                </a:solidFill>
                <a:latin typeface="Forum"/>
                <a:ea typeface="Forum"/>
                <a:cs typeface="Forum"/>
                <a:sym typeface="Forum"/>
              </a:rPr>
              <a:t>.</a:t>
            </a:r>
          </a:p>
          <a:p>
            <a:pPr algn="l">
              <a:lnSpc>
                <a:spcPts val="3920"/>
              </a:lnSpc>
              <a:spcBef>
                <a:spcPct val="0"/>
              </a:spcBef>
            </a:pPr>
            <a:r>
              <a:rPr lang="en-US" sz="2800" dirty="0">
                <a:solidFill>
                  <a:srgbClr val="000000"/>
                </a:solidFill>
                <a:latin typeface="Forum"/>
                <a:ea typeface="Forum"/>
                <a:cs typeface="Forum"/>
                <a:sym typeface="Forum"/>
              </a:rPr>
              <a:t>Bu </a:t>
            </a:r>
            <a:r>
              <a:rPr lang="en-US" sz="2800" dirty="0" err="1">
                <a:solidFill>
                  <a:srgbClr val="000000"/>
                </a:solidFill>
                <a:latin typeface="Forum"/>
                <a:ea typeface="Forum"/>
                <a:cs typeface="Forum"/>
                <a:sym typeface="Forum"/>
              </a:rPr>
              <a:t>embeddingleri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kullanarak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kişiye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özel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tanıma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modeli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eğitmektedir</a:t>
            </a:r>
            <a:r>
              <a:rPr lang="en-US" sz="2800" dirty="0">
                <a:solidFill>
                  <a:srgbClr val="000000"/>
                </a:solidFill>
                <a:latin typeface="Forum"/>
                <a:ea typeface="Forum"/>
                <a:cs typeface="Forum"/>
                <a:sym typeface="Forum"/>
              </a:rPr>
              <a:t>.</a:t>
            </a:r>
          </a:p>
        </p:txBody>
      </p:sp>
      <p:sp>
        <p:nvSpPr>
          <p:cNvPr id="3" name="TextBox 3"/>
          <p:cNvSpPr txBox="1"/>
          <p:nvPr/>
        </p:nvSpPr>
        <p:spPr>
          <a:xfrm>
            <a:off x="1028700" y="4300220"/>
            <a:ext cx="11315700" cy="4958080"/>
          </a:xfrm>
          <a:prstGeom prst="rect">
            <a:avLst/>
          </a:prstGeom>
        </p:spPr>
        <p:txBody>
          <a:bodyPr wrap="square" lIns="0" tIns="0" rIns="0" bIns="0" rtlCol="0" anchor="t">
            <a:spAutoFit/>
          </a:bodyPr>
          <a:lstStyle/>
          <a:p>
            <a:pPr algn="just">
              <a:lnSpc>
                <a:spcPts val="3920"/>
              </a:lnSpc>
              <a:spcBef>
                <a:spcPct val="0"/>
              </a:spcBef>
            </a:pPr>
            <a:r>
              <a:rPr lang="en-US" sz="2800" dirty="0" err="1">
                <a:solidFill>
                  <a:srgbClr val="000000"/>
                </a:solidFill>
                <a:latin typeface="Forum"/>
                <a:ea typeface="Forum"/>
                <a:cs typeface="Forum"/>
                <a:sym typeface="Forum"/>
              </a:rPr>
              <a:t>Kullanılan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Fonkisyon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embedding_uret</a:t>
            </a:r>
            <a:r>
              <a:rPr lang="en-US" sz="2800" dirty="0">
                <a:solidFill>
                  <a:srgbClr val="000000"/>
                </a:solidFill>
                <a:latin typeface="Forum"/>
                <a:ea typeface="Forum"/>
                <a:cs typeface="Forum"/>
                <a:sym typeface="Forum"/>
              </a:rPr>
              <a:t>(</a:t>
            </a:r>
            <a:r>
              <a:rPr lang="en-US" sz="2800" dirty="0" err="1">
                <a:solidFill>
                  <a:srgbClr val="000000"/>
                </a:solidFill>
                <a:latin typeface="Forum"/>
                <a:ea typeface="Forum"/>
                <a:cs typeface="Forum"/>
                <a:sym typeface="Forum"/>
              </a:rPr>
              <a:t>root_dir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Bu </a:t>
            </a:r>
            <a:r>
              <a:rPr lang="en-US" sz="2800" dirty="0" err="1">
                <a:solidFill>
                  <a:srgbClr val="000000"/>
                </a:solidFill>
                <a:latin typeface="Forum"/>
                <a:ea typeface="Forum"/>
                <a:cs typeface="Forum"/>
                <a:sym typeface="Forum"/>
              </a:rPr>
              <a:t>fonksiyon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klasaör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yapısına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embeddinlerini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otomatik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üretir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err="1">
                <a:solidFill>
                  <a:srgbClr val="000000"/>
                </a:solidFill>
                <a:latin typeface="Forum"/>
                <a:ea typeface="Forum"/>
                <a:cs typeface="Forum"/>
                <a:sym typeface="Forum"/>
              </a:rPr>
              <a:t>İzlenen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Adımlar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Her </a:t>
            </a:r>
            <a:r>
              <a:rPr lang="en-US" sz="2800" dirty="0" err="1">
                <a:solidFill>
                  <a:srgbClr val="000000"/>
                </a:solidFill>
                <a:latin typeface="Forum"/>
                <a:ea typeface="Forum"/>
                <a:cs typeface="Forum"/>
                <a:sym typeface="Forum"/>
              </a:rPr>
              <a:t>klasör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kişiyi</a:t>
            </a:r>
            <a:r>
              <a:rPr lang="en-US" sz="2800" dirty="0">
                <a:solidFill>
                  <a:srgbClr val="000000"/>
                </a:solidFill>
                <a:latin typeface="Forum"/>
                <a:ea typeface="Forum"/>
                <a:cs typeface="Forum"/>
                <a:sym typeface="Forum"/>
              </a:rPr>
              <a:t>(label) </a:t>
            </a:r>
            <a:r>
              <a:rPr lang="en-US" sz="2800" dirty="0" err="1">
                <a:solidFill>
                  <a:srgbClr val="000000"/>
                </a:solidFill>
                <a:latin typeface="Forum"/>
                <a:ea typeface="Forum"/>
                <a:cs typeface="Forum"/>
                <a:sym typeface="Forum"/>
              </a:rPr>
              <a:t>temsil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eder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Klasör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içindeki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tüm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görseller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okunur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Görseller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 BGR-&gt;RGB </a:t>
            </a:r>
            <a:r>
              <a:rPr lang="en-US" sz="2800" dirty="0" err="1">
                <a:solidFill>
                  <a:srgbClr val="000000"/>
                </a:solidFill>
                <a:latin typeface="Forum"/>
                <a:ea typeface="Forum"/>
                <a:cs typeface="Forum"/>
                <a:sym typeface="Forum"/>
              </a:rPr>
              <a:t>formatına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dönüştürülür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a:solidFill>
                  <a:srgbClr val="000000"/>
                </a:solidFill>
                <a:latin typeface="Forum"/>
                <a:ea typeface="Forum"/>
                <a:cs typeface="Forum"/>
                <a:sym typeface="Forum"/>
              </a:rPr>
              <a:t> HOG </a:t>
            </a:r>
            <a:r>
              <a:rPr lang="en-US" sz="2800" dirty="0" err="1">
                <a:solidFill>
                  <a:srgbClr val="000000"/>
                </a:solidFill>
                <a:latin typeface="Forum"/>
                <a:ea typeface="Forum"/>
                <a:cs typeface="Forum"/>
                <a:sym typeface="Forum"/>
              </a:rPr>
              <a:t>tabanlı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yöntemle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tespiti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yapılır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a:solidFill>
                  <a:srgbClr val="000000"/>
                </a:solidFill>
                <a:latin typeface="Forum"/>
                <a:ea typeface="Forum"/>
                <a:cs typeface="Forum"/>
                <a:sym typeface="Forum"/>
              </a:rPr>
              <a:t> Tespit </a:t>
            </a:r>
            <a:r>
              <a:rPr lang="en-US" sz="2800" dirty="0" err="1">
                <a:solidFill>
                  <a:srgbClr val="000000"/>
                </a:solidFill>
                <a:latin typeface="Forum"/>
                <a:ea typeface="Forum"/>
                <a:cs typeface="Forum"/>
                <a:sym typeface="Forum"/>
              </a:rPr>
              <a:t>edilem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yüzlerden</a:t>
            </a:r>
            <a:r>
              <a:rPr lang="en-US" sz="2800" dirty="0">
                <a:solidFill>
                  <a:srgbClr val="000000"/>
                </a:solidFill>
                <a:latin typeface="Forum"/>
                <a:ea typeface="Forum"/>
                <a:cs typeface="Forum"/>
                <a:sym typeface="Forum"/>
              </a:rPr>
              <a:t> 128 </a:t>
            </a:r>
            <a:r>
              <a:rPr lang="en-US" sz="2800" dirty="0" err="1">
                <a:solidFill>
                  <a:srgbClr val="000000"/>
                </a:solidFill>
                <a:latin typeface="Forum"/>
                <a:ea typeface="Forum"/>
                <a:cs typeface="Forum"/>
                <a:sym typeface="Forum"/>
              </a:rPr>
              <a:t>boyutlu</a:t>
            </a:r>
            <a:r>
              <a:rPr lang="en-US" sz="2800" dirty="0">
                <a:solidFill>
                  <a:srgbClr val="000000"/>
                </a:solidFill>
                <a:latin typeface="Forum"/>
                <a:ea typeface="Forum"/>
                <a:cs typeface="Forum"/>
                <a:sym typeface="Forum"/>
              </a:rPr>
              <a:t> embedding </a:t>
            </a:r>
            <a:r>
              <a:rPr lang="en-US" sz="2800" dirty="0" err="1">
                <a:solidFill>
                  <a:srgbClr val="000000"/>
                </a:solidFill>
                <a:latin typeface="Forum"/>
                <a:ea typeface="Forum"/>
                <a:cs typeface="Forum"/>
                <a:sym typeface="Forum"/>
              </a:rPr>
              <a:t>çıkarılır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a:solidFill>
                  <a:srgbClr val="000000"/>
                </a:solidFill>
                <a:latin typeface="Forum"/>
                <a:ea typeface="Forum"/>
                <a:cs typeface="Forum"/>
                <a:sym typeface="Forum"/>
              </a:rPr>
              <a:t>Her embedding </a:t>
            </a:r>
            <a:r>
              <a:rPr lang="en-US" sz="2800" dirty="0" err="1">
                <a:solidFill>
                  <a:srgbClr val="000000"/>
                </a:solidFill>
                <a:latin typeface="Forum"/>
                <a:ea typeface="Forum"/>
                <a:cs typeface="Forum"/>
                <a:sym typeface="Forum"/>
              </a:rPr>
              <a:t>ilgili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sınıf</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etiketiyle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birlikte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kaydedilir</a:t>
            </a:r>
            <a:r>
              <a:rPr lang="en-US" sz="2800" dirty="0">
                <a:solidFill>
                  <a:srgbClr val="000000"/>
                </a:solidFill>
                <a:latin typeface="Forum"/>
                <a:ea typeface="Forum"/>
                <a:cs typeface="Forum"/>
                <a:sym typeface="Forum"/>
              </a:rPr>
              <a:t> </a:t>
            </a:r>
          </a:p>
        </p:txBody>
      </p:sp>
      <p:sp>
        <p:nvSpPr>
          <p:cNvPr id="4" name="TextBox 4"/>
          <p:cNvSpPr txBox="1"/>
          <p:nvPr/>
        </p:nvSpPr>
        <p:spPr>
          <a:xfrm>
            <a:off x="1028700" y="3581717"/>
            <a:ext cx="63627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Embedding </a:t>
            </a:r>
            <a:r>
              <a:rPr lang="en-US" sz="3399" dirty="0" err="1">
                <a:solidFill>
                  <a:srgbClr val="000000"/>
                </a:solidFill>
                <a:latin typeface="Antonio"/>
                <a:ea typeface="Antonio"/>
                <a:cs typeface="Antonio"/>
                <a:sym typeface="Antonio"/>
              </a:rPr>
              <a:t>Üretimi</a:t>
            </a:r>
            <a:r>
              <a:rPr lang="en-US" sz="3399" dirty="0">
                <a:solidFill>
                  <a:srgbClr val="000000"/>
                </a:solidFill>
                <a:latin typeface="Antonio"/>
                <a:ea typeface="Antonio"/>
                <a:cs typeface="Antonio"/>
                <a:sym typeface="Antonio"/>
              </a:rPr>
              <a:t> (Feature Extraction)</a:t>
            </a:r>
          </a:p>
        </p:txBody>
      </p:sp>
      <p:sp>
        <p:nvSpPr>
          <p:cNvPr id="5" name="TextBox 5"/>
          <p:cNvSpPr txBox="1"/>
          <p:nvPr/>
        </p:nvSpPr>
        <p:spPr>
          <a:xfrm>
            <a:off x="1028700" y="962025"/>
            <a:ext cx="76581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Yüz</a:t>
            </a:r>
            <a:r>
              <a:rPr lang="en-US" sz="3399" dirty="0">
                <a:solidFill>
                  <a:srgbClr val="000000"/>
                </a:solidFill>
                <a:latin typeface="Antonio"/>
                <a:ea typeface="Antonio"/>
                <a:cs typeface="Antonio"/>
                <a:sym typeface="Antonio"/>
              </a:rPr>
              <a:t> Embedding </a:t>
            </a:r>
            <a:r>
              <a:rPr lang="en-US" sz="3399" dirty="0" err="1">
                <a:solidFill>
                  <a:srgbClr val="000000"/>
                </a:solidFill>
                <a:latin typeface="Antonio"/>
                <a:ea typeface="Antonio"/>
                <a:cs typeface="Antonio"/>
                <a:sym typeface="Antonio"/>
              </a:rPr>
              <a:t>Üretimi</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ve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Sınıflandırma</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Süreci</a:t>
            </a:r>
            <a:endParaRPr lang="en-US" sz="3399" dirty="0">
              <a:solidFill>
                <a:srgbClr val="000000"/>
              </a:solidFill>
              <a:latin typeface="Antonio"/>
              <a:ea typeface="Antonio"/>
              <a:cs typeface="Antonio"/>
              <a:sym typeface="Antoni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485265"/>
            <a:ext cx="13220700" cy="399020"/>
          </a:xfrm>
          <a:prstGeom prst="rect">
            <a:avLst/>
          </a:prstGeom>
        </p:spPr>
        <p:txBody>
          <a:bodyPr wrap="square" lIns="0" tIns="0" rIns="0" bIns="0" rtlCol="0" anchor="t">
            <a:spAutoFit/>
          </a:bodyPr>
          <a:lstStyle/>
          <a:p>
            <a:pPr algn="ctr">
              <a:lnSpc>
                <a:spcPts val="3304"/>
              </a:lnSpc>
              <a:spcBef>
                <a:spcPct val="0"/>
              </a:spcBef>
            </a:pPr>
            <a:r>
              <a:rPr lang="en-US" sz="2360" dirty="0" err="1">
                <a:solidFill>
                  <a:srgbClr val="000000"/>
                </a:solidFill>
                <a:latin typeface="Forum"/>
                <a:ea typeface="Forum"/>
                <a:cs typeface="Forum"/>
                <a:sym typeface="Forum"/>
              </a:rPr>
              <a:t>Görüntü</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işleme</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ve</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bilgisayarlı</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görü</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alanında</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sık</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kullanılan</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bir</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özellik</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çıkarma</a:t>
            </a:r>
            <a:r>
              <a:rPr lang="en-US" sz="2360" dirty="0">
                <a:solidFill>
                  <a:srgbClr val="000000"/>
                </a:solidFill>
                <a:latin typeface="Forum"/>
                <a:ea typeface="Forum"/>
                <a:cs typeface="Forum"/>
                <a:sym typeface="Forum"/>
              </a:rPr>
              <a:t> (feature extraction) </a:t>
            </a:r>
            <a:r>
              <a:rPr lang="en-US" sz="2360" dirty="0" err="1">
                <a:solidFill>
                  <a:srgbClr val="000000"/>
                </a:solidFill>
                <a:latin typeface="Forum"/>
                <a:ea typeface="Forum"/>
                <a:cs typeface="Forum"/>
                <a:sym typeface="Forum"/>
              </a:rPr>
              <a:t>yöntemidir</a:t>
            </a:r>
            <a:r>
              <a:rPr lang="en-US" sz="2360" dirty="0">
                <a:solidFill>
                  <a:srgbClr val="000000"/>
                </a:solidFill>
                <a:latin typeface="Forum"/>
                <a:ea typeface="Forum"/>
                <a:cs typeface="Forum"/>
                <a:sym typeface="Forum"/>
              </a:rPr>
              <a:t>.</a:t>
            </a:r>
          </a:p>
        </p:txBody>
      </p:sp>
      <p:sp>
        <p:nvSpPr>
          <p:cNvPr id="3" name="TextBox 3"/>
          <p:cNvSpPr txBox="1"/>
          <p:nvPr/>
        </p:nvSpPr>
        <p:spPr>
          <a:xfrm>
            <a:off x="1028700" y="847725"/>
            <a:ext cx="61341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HOG (Histogram of Oriented Gradients)</a:t>
            </a:r>
          </a:p>
        </p:txBody>
      </p:sp>
      <p:sp>
        <p:nvSpPr>
          <p:cNvPr id="4" name="TextBox 4"/>
          <p:cNvSpPr txBox="1"/>
          <p:nvPr/>
        </p:nvSpPr>
        <p:spPr>
          <a:xfrm>
            <a:off x="1028700" y="1844421"/>
            <a:ext cx="12763500" cy="399020"/>
          </a:xfrm>
          <a:prstGeom prst="rect">
            <a:avLst/>
          </a:prstGeom>
        </p:spPr>
        <p:txBody>
          <a:bodyPr wrap="square" lIns="0" tIns="0" rIns="0" bIns="0" rtlCol="0" anchor="t">
            <a:spAutoFit/>
          </a:bodyPr>
          <a:lstStyle/>
          <a:p>
            <a:pPr algn="ctr">
              <a:lnSpc>
                <a:spcPts val="3304"/>
              </a:lnSpc>
              <a:spcBef>
                <a:spcPct val="0"/>
              </a:spcBef>
            </a:pPr>
            <a:r>
              <a:rPr lang="en-US" sz="2360" dirty="0">
                <a:solidFill>
                  <a:srgbClr val="000000"/>
                </a:solidFill>
                <a:latin typeface="Forum"/>
                <a:ea typeface="Forum"/>
                <a:cs typeface="Forum"/>
                <a:sym typeface="Forum"/>
              </a:rPr>
              <a:t>HOG, </a:t>
            </a:r>
            <a:r>
              <a:rPr lang="en-US" sz="2360" dirty="0" err="1">
                <a:solidFill>
                  <a:srgbClr val="000000"/>
                </a:solidFill>
                <a:latin typeface="Forum"/>
                <a:ea typeface="Forum"/>
                <a:cs typeface="Forum"/>
                <a:sym typeface="Forum"/>
              </a:rPr>
              <a:t>bir</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görüntüdeki</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kenarların</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ve</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şekillerin</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yönelimlerini</a:t>
            </a:r>
            <a:r>
              <a:rPr lang="en-US" sz="2360" dirty="0">
                <a:solidFill>
                  <a:srgbClr val="000000"/>
                </a:solidFill>
                <a:latin typeface="Forum"/>
                <a:ea typeface="Forum"/>
                <a:cs typeface="Forum"/>
                <a:sym typeface="Forum"/>
              </a:rPr>
              <a:t> (gradient </a:t>
            </a:r>
            <a:r>
              <a:rPr lang="en-US" sz="2360" dirty="0" err="1">
                <a:solidFill>
                  <a:srgbClr val="000000"/>
                </a:solidFill>
                <a:latin typeface="Forum"/>
                <a:ea typeface="Forum"/>
                <a:cs typeface="Forum"/>
                <a:sym typeface="Forum"/>
              </a:rPr>
              <a:t>yönlerini</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sayısal</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olarak</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temsil</a:t>
            </a:r>
            <a:r>
              <a:rPr lang="en-US" sz="2360" dirty="0">
                <a:solidFill>
                  <a:srgbClr val="000000"/>
                </a:solidFill>
                <a:latin typeface="Forum"/>
                <a:ea typeface="Forum"/>
                <a:cs typeface="Forum"/>
                <a:sym typeface="Forum"/>
              </a:rPr>
              <a:t> </a:t>
            </a:r>
            <a:r>
              <a:rPr lang="en-US" sz="2360" dirty="0" err="1">
                <a:solidFill>
                  <a:srgbClr val="000000"/>
                </a:solidFill>
                <a:latin typeface="Forum"/>
                <a:ea typeface="Forum"/>
                <a:cs typeface="Forum"/>
                <a:sym typeface="Forum"/>
              </a:rPr>
              <a:t>eder</a:t>
            </a:r>
            <a:r>
              <a:rPr lang="en-US" sz="2360" dirty="0">
                <a:solidFill>
                  <a:srgbClr val="000000"/>
                </a:solidFill>
                <a:latin typeface="Forum"/>
                <a:ea typeface="Forum"/>
                <a:cs typeface="Forum"/>
                <a:sym typeface="Forum"/>
              </a:rPr>
              <a:t>.</a:t>
            </a:r>
          </a:p>
        </p:txBody>
      </p:sp>
      <p:sp>
        <p:nvSpPr>
          <p:cNvPr id="5" name="TextBox 5"/>
          <p:cNvSpPr txBox="1"/>
          <p:nvPr/>
        </p:nvSpPr>
        <p:spPr>
          <a:xfrm>
            <a:off x="1028700" y="2325792"/>
            <a:ext cx="11772900" cy="7169976"/>
          </a:xfrm>
          <a:prstGeom prst="rect">
            <a:avLst/>
          </a:prstGeom>
        </p:spPr>
        <p:txBody>
          <a:bodyPr wrap="square" lIns="0" tIns="0" rIns="0" bIns="0" rtlCol="0" anchor="t">
            <a:spAutoFit/>
          </a:bodyPr>
          <a:lstStyle/>
          <a:p>
            <a:pPr algn="l">
              <a:lnSpc>
                <a:spcPts val="3298"/>
              </a:lnSpc>
              <a:spcBef>
                <a:spcPct val="0"/>
              </a:spcBef>
            </a:pPr>
            <a:r>
              <a:rPr lang="en-US" sz="2356" dirty="0">
                <a:solidFill>
                  <a:srgbClr val="000000"/>
                </a:solidFill>
                <a:latin typeface="Forum"/>
                <a:ea typeface="Forum"/>
                <a:cs typeface="Forum"/>
                <a:sym typeface="Forum"/>
              </a:rPr>
              <a:t>Temel </a:t>
            </a:r>
            <a:r>
              <a:rPr lang="en-US" sz="2356" dirty="0" err="1">
                <a:solidFill>
                  <a:srgbClr val="000000"/>
                </a:solidFill>
                <a:latin typeface="Forum"/>
                <a:ea typeface="Forum"/>
                <a:cs typeface="Forum"/>
                <a:sym typeface="Forum"/>
              </a:rPr>
              <a:t>fikir</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şudur</a:t>
            </a:r>
            <a:r>
              <a:rPr lang="en-US" sz="2356" dirty="0">
                <a:solidFill>
                  <a:srgbClr val="000000"/>
                </a:solidFill>
                <a:latin typeface="Forum"/>
                <a:ea typeface="Forum"/>
                <a:cs typeface="Forum"/>
                <a:sym typeface="Forum"/>
              </a:rPr>
              <a:t>:</a:t>
            </a:r>
          </a:p>
          <a:p>
            <a:pPr algn="l">
              <a:lnSpc>
                <a:spcPts val="3298"/>
              </a:lnSpc>
              <a:spcBef>
                <a:spcPct val="0"/>
              </a:spcBef>
            </a:pPr>
            <a:r>
              <a:rPr lang="en-US" sz="2356" dirty="0">
                <a:solidFill>
                  <a:srgbClr val="000000"/>
                </a:solidFill>
                <a:latin typeface="Forum"/>
                <a:ea typeface="Forum"/>
                <a:cs typeface="Forum"/>
                <a:sym typeface="Forum"/>
              </a:rPr>
              <a:t>“Bir </a:t>
            </a:r>
            <a:r>
              <a:rPr lang="en-US" sz="2356" dirty="0" err="1">
                <a:solidFill>
                  <a:srgbClr val="000000"/>
                </a:solidFill>
                <a:latin typeface="Forum"/>
                <a:ea typeface="Forum"/>
                <a:cs typeface="Forum"/>
                <a:sym typeface="Forum"/>
              </a:rPr>
              <a:t>nesnenin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şekli</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piksellerin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mutlak</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değerinden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çok</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kenarların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yönleri</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ve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dağılımıyla</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anlaşılır</a:t>
            </a:r>
            <a:r>
              <a:rPr lang="en-US" sz="2356" dirty="0">
                <a:solidFill>
                  <a:srgbClr val="000000"/>
                </a:solidFill>
                <a:latin typeface="Forum"/>
                <a:ea typeface="Forum"/>
                <a:cs typeface="Forum"/>
                <a:sym typeface="Forum"/>
              </a:rPr>
              <a:t>.”</a:t>
            </a:r>
          </a:p>
          <a:p>
            <a:pPr algn="l">
              <a:lnSpc>
                <a:spcPts val="3298"/>
              </a:lnSpc>
              <a:spcBef>
                <a:spcPct val="0"/>
              </a:spcBef>
            </a:pPr>
            <a:r>
              <a:rPr lang="en-US" sz="2356" dirty="0" err="1">
                <a:solidFill>
                  <a:srgbClr val="000000"/>
                </a:solidFill>
                <a:latin typeface="Forum"/>
                <a:ea typeface="Forum"/>
                <a:cs typeface="Forum"/>
                <a:sym typeface="Forum"/>
              </a:rPr>
              <a:t>Nasıl</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Çalışır</a:t>
            </a:r>
            <a:r>
              <a:rPr lang="en-US" sz="2356" dirty="0">
                <a:solidFill>
                  <a:srgbClr val="000000"/>
                </a:solidFill>
                <a:latin typeface="Forum"/>
                <a:ea typeface="Forum"/>
                <a:cs typeface="Forum"/>
                <a:sym typeface="Forum"/>
              </a:rPr>
              <a:t> :</a:t>
            </a:r>
          </a:p>
          <a:p>
            <a:pPr marL="508663" lvl="1" indent="-254331" algn="l">
              <a:lnSpc>
                <a:spcPts val="3298"/>
              </a:lnSpc>
              <a:buFont typeface="Arial"/>
              <a:buChar char="•"/>
            </a:pPr>
            <a:r>
              <a:rPr lang="en-US" sz="2356" dirty="0">
                <a:solidFill>
                  <a:srgbClr val="000000"/>
                </a:solidFill>
                <a:latin typeface="Forum"/>
                <a:ea typeface="Forum"/>
                <a:cs typeface="Forum"/>
                <a:sym typeface="Forum"/>
              </a:rPr>
              <a:t>Gradient </a:t>
            </a:r>
            <a:r>
              <a:rPr lang="en-US" sz="2356" dirty="0" err="1">
                <a:solidFill>
                  <a:srgbClr val="000000"/>
                </a:solidFill>
                <a:latin typeface="Forum"/>
                <a:ea typeface="Forum"/>
                <a:cs typeface="Forum"/>
                <a:sym typeface="Forum"/>
              </a:rPr>
              <a:t>hesaplanır</a:t>
            </a:r>
            <a:endParaRPr lang="en-US" sz="2356" dirty="0">
              <a:solidFill>
                <a:srgbClr val="000000"/>
              </a:solidFill>
              <a:latin typeface="Forum"/>
              <a:ea typeface="Forum"/>
              <a:cs typeface="Forum"/>
              <a:sym typeface="Forum"/>
            </a:endParaRPr>
          </a:p>
          <a:p>
            <a:pPr marL="508663" lvl="1" indent="-254331" algn="l">
              <a:lnSpc>
                <a:spcPts val="3298"/>
              </a:lnSpc>
              <a:buFont typeface="Arial"/>
              <a:buChar char="•"/>
            </a:pPr>
            <a:r>
              <a:rPr lang="en-US" sz="2356" dirty="0">
                <a:solidFill>
                  <a:srgbClr val="000000"/>
                </a:solidFill>
                <a:latin typeface="Forum"/>
                <a:ea typeface="Forum"/>
                <a:cs typeface="Forum"/>
                <a:sym typeface="Forum"/>
              </a:rPr>
              <a:t> Her </a:t>
            </a:r>
            <a:r>
              <a:rPr lang="en-US" sz="2356" dirty="0" err="1">
                <a:solidFill>
                  <a:srgbClr val="000000"/>
                </a:solidFill>
                <a:latin typeface="Forum"/>
                <a:ea typeface="Forum"/>
                <a:cs typeface="Forum"/>
                <a:sym typeface="Forum"/>
              </a:rPr>
              <a:t>piksel</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için</a:t>
            </a:r>
            <a:r>
              <a:rPr lang="en-US" sz="2356" dirty="0">
                <a:solidFill>
                  <a:srgbClr val="000000"/>
                </a:solidFill>
                <a:latin typeface="Forum"/>
                <a:ea typeface="Forum"/>
                <a:cs typeface="Forum"/>
                <a:sym typeface="Forum"/>
              </a:rPr>
              <a:t> x </a:t>
            </a:r>
            <a:r>
              <a:rPr lang="en-US" sz="2356" dirty="0" err="1">
                <a:solidFill>
                  <a:srgbClr val="000000"/>
                </a:solidFill>
                <a:latin typeface="Forum"/>
                <a:ea typeface="Forum"/>
                <a:cs typeface="Forum"/>
                <a:sym typeface="Forum"/>
              </a:rPr>
              <a:t>ve</a:t>
            </a:r>
            <a:r>
              <a:rPr lang="en-US" sz="2356" dirty="0">
                <a:solidFill>
                  <a:srgbClr val="000000"/>
                </a:solidFill>
                <a:latin typeface="Forum"/>
                <a:ea typeface="Forum"/>
                <a:cs typeface="Forum"/>
                <a:sym typeface="Forum"/>
              </a:rPr>
              <a:t> y </a:t>
            </a:r>
            <a:r>
              <a:rPr lang="en-US" sz="2356" dirty="0" err="1">
                <a:solidFill>
                  <a:srgbClr val="000000"/>
                </a:solidFill>
                <a:latin typeface="Forum"/>
                <a:ea typeface="Forum"/>
                <a:cs typeface="Forum"/>
                <a:sym typeface="Forum"/>
              </a:rPr>
              <a:t>yönünde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türev</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alınır</a:t>
            </a:r>
            <a:r>
              <a:rPr lang="en-US" sz="2356" dirty="0">
                <a:solidFill>
                  <a:srgbClr val="000000"/>
                </a:solidFill>
                <a:latin typeface="Forum"/>
                <a:ea typeface="Forum"/>
                <a:cs typeface="Forum"/>
                <a:sym typeface="Forum"/>
              </a:rPr>
              <a:t>.</a:t>
            </a:r>
          </a:p>
          <a:p>
            <a:pPr marL="508663" lvl="1" indent="-254331" algn="l">
              <a:lnSpc>
                <a:spcPts val="3298"/>
              </a:lnSpc>
              <a:buFont typeface="Arial"/>
              <a:buChar char="•"/>
            </a:pP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Böylece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kenarların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yönü</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ve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şiddeti</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bulunur</a:t>
            </a:r>
            <a:r>
              <a:rPr lang="en-US" sz="2356" dirty="0">
                <a:solidFill>
                  <a:srgbClr val="000000"/>
                </a:solidFill>
                <a:latin typeface="Forum"/>
                <a:ea typeface="Forum"/>
                <a:cs typeface="Forum"/>
                <a:sym typeface="Forum"/>
              </a:rPr>
              <a:t>.</a:t>
            </a:r>
          </a:p>
          <a:p>
            <a:pPr marL="508663" lvl="1" indent="-254331" algn="l">
              <a:lnSpc>
                <a:spcPts val="3298"/>
              </a:lnSpc>
              <a:buFont typeface="Arial"/>
              <a:buChar char="•"/>
            </a:pPr>
            <a:r>
              <a:rPr lang="en-US" sz="2356" dirty="0" err="1">
                <a:solidFill>
                  <a:srgbClr val="000000"/>
                </a:solidFill>
                <a:latin typeface="Forum"/>
                <a:ea typeface="Forum"/>
                <a:cs typeface="Forum"/>
                <a:sym typeface="Forum"/>
              </a:rPr>
              <a:t>Hücrelere</a:t>
            </a:r>
            <a:r>
              <a:rPr lang="en-US" sz="2356" dirty="0">
                <a:solidFill>
                  <a:srgbClr val="000000"/>
                </a:solidFill>
                <a:latin typeface="Forum"/>
                <a:ea typeface="Forum"/>
                <a:cs typeface="Forum"/>
                <a:sym typeface="Forum"/>
              </a:rPr>
              <a:t> (cell) </a:t>
            </a:r>
            <a:r>
              <a:rPr lang="en-US" sz="2356" dirty="0" err="1">
                <a:solidFill>
                  <a:srgbClr val="000000"/>
                </a:solidFill>
                <a:latin typeface="Forum"/>
                <a:ea typeface="Forum"/>
                <a:cs typeface="Forum"/>
                <a:sym typeface="Forum"/>
              </a:rPr>
              <a:t>bölünür</a:t>
            </a:r>
            <a:endParaRPr lang="en-US" sz="2356" dirty="0">
              <a:solidFill>
                <a:srgbClr val="000000"/>
              </a:solidFill>
              <a:latin typeface="Forum"/>
              <a:ea typeface="Forum"/>
              <a:cs typeface="Forum"/>
              <a:sym typeface="Forum"/>
            </a:endParaRPr>
          </a:p>
          <a:p>
            <a:pPr marL="508663" lvl="1" indent="-254331" algn="l">
              <a:lnSpc>
                <a:spcPts val="3298"/>
              </a:lnSpc>
              <a:buFont typeface="Arial"/>
              <a:buChar char="•"/>
            </a:pP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Görüntü</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küçük</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parçalara</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ayrılır</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örneğin</a:t>
            </a:r>
            <a:r>
              <a:rPr lang="en-US" sz="2356" dirty="0">
                <a:solidFill>
                  <a:srgbClr val="000000"/>
                </a:solidFill>
                <a:latin typeface="Forum"/>
                <a:ea typeface="Forum"/>
                <a:cs typeface="Forum"/>
                <a:sym typeface="Forum"/>
              </a:rPr>
              <a:t> 8×8).</a:t>
            </a:r>
          </a:p>
          <a:p>
            <a:pPr marL="508663" lvl="1" indent="-254331" algn="l">
              <a:lnSpc>
                <a:spcPts val="3298"/>
              </a:lnSpc>
              <a:buFont typeface="Arial"/>
              <a:buChar char="•"/>
            </a:pPr>
            <a:r>
              <a:rPr lang="en-US" sz="2356" dirty="0">
                <a:solidFill>
                  <a:srgbClr val="000000"/>
                </a:solidFill>
                <a:latin typeface="Forum"/>
                <a:ea typeface="Forum"/>
                <a:cs typeface="Forum"/>
                <a:sym typeface="Forum"/>
              </a:rPr>
              <a:t>Histogram </a:t>
            </a:r>
            <a:r>
              <a:rPr lang="en-US" sz="2356" dirty="0" err="1">
                <a:solidFill>
                  <a:srgbClr val="000000"/>
                </a:solidFill>
                <a:latin typeface="Forum"/>
                <a:ea typeface="Forum"/>
                <a:cs typeface="Forum"/>
                <a:sym typeface="Forum"/>
              </a:rPr>
              <a:t>oluşturulur</a:t>
            </a:r>
            <a:endParaRPr lang="en-US" sz="2356" dirty="0">
              <a:solidFill>
                <a:srgbClr val="000000"/>
              </a:solidFill>
              <a:latin typeface="Forum"/>
              <a:ea typeface="Forum"/>
              <a:cs typeface="Forum"/>
              <a:sym typeface="Forum"/>
            </a:endParaRPr>
          </a:p>
          <a:p>
            <a:pPr marL="508663" lvl="1" indent="-254331" algn="l">
              <a:lnSpc>
                <a:spcPts val="3298"/>
              </a:lnSpc>
              <a:buFont typeface="Arial"/>
              <a:buChar char="•"/>
            </a:pPr>
            <a:r>
              <a:rPr lang="en-US" sz="2356" dirty="0">
                <a:solidFill>
                  <a:srgbClr val="000000"/>
                </a:solidFill>
                <a:latin typeface="Forum"/>
                <a:ea typeface="Forum"/>
                <a:cs typeface="Forum"/>
                <a:sym typeface="Forum"/>
              </a:rPr>
              <a:t> Her </a:t>
            </a:r>
            <a:r>
              <a:rPr lang="en-US" sz="2356" dirty="0" err="1">
                <a:solidFill>
                  <a:srgbClr val="000000"/>
                </a:solidFill>
                <a:latin typeface="Forum"/>
                <a:ea typeface="Forum"/>
                <a:cs typeface="Forum"/>
                <a:sym typeface="Forum"/>
              </a:rPr>
              <a:t>hücrede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kenar</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yönleri</a:t>
            </a:r>
            <a:r>
              <a:rPr lang="en-US" sz="2356" dirty="0">
                <a:solidFill>
                  <a:srgbClr val="000000"/>
                </a:solidFill>
                <a:latin typeface="Forum"/>
                <a:ea typeface="Forum"/>
                <a:cs typeface="Forum"/>
                <a:sym typeface="Forum"/>
              </a:rPr>
              <a:t> (0–180° </a:t>
            </a:r>
            <a:r>
              <a:rPr lang="en-US" sz="2356" dirty="0" err="1">
                <a:solidFill>
                  <a:srgbClr val="000000"/>
                </a:solidFill>
                <a:latin typeface="Forum"/>
                <a:ea typeface="Forum"/>
                <a:cs typeface="Forum"/>
                <a:sym typeface="Forum"/>
              </a:rPr>
              <a:t>gibi</a:t>
            </a:r>
            <a:r>
              <a:rPr lang="en-US" sz="2356" dirty="0">
                <a:solidFill>
                  <a:srgbClr val="000000"/>
                </a:solidFill>
                <a:latin typeface="Forum"/>
                <a:ea typeface="Forum"/>
                <a:cs typeface="Forum"/>
                <a:sym typeface="Forum"/>
              </a:rPr>
              <a:t>) histogram </a:t>
            </a:r>
            <a:r>
              <a:rPr lang="en-US" sz="2356" dirty="0" err="1">
                <a:solidFill>
                  <a:srgbClr val="000000"/>
                </a:solidFill>
                <a:latin typeface="Forum"/>
                <a:ea typeface="Forum"/>
                <a:cs typeface="Forum"/>
                <a:sym typeface="Forum"/>
              </a:rPr>
              <a:t>halinde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sayılır</a:t>
            </a:r>
            <a:r>
              <a:rPr lang="en-US" sz="2356" dirty="0">
                <a:solidFill>
                  <a:srgbClr val="000000"/>
                </a:solidFill>
                <a:latin typeface="Forum"/>
                <a:ea typeface="Forum"/>
                <a:cs typeface="Forum"/>
                <a:sym typeface="Forum"/>
              </a:rPr>
              <a:t>.</a:t>
            </a:r>
          </a:p>
          <a:p>
            <a:pPr marL="508663" lvl="1" indent="-254331" algn="l">
              <a:lnSpc>
                <a:spcPts val="3298"/>
              </a:lnSpc>
              <a:buFont typeface="Arial"/>
              <a:buChar char="•"/>
            </a:pPr>
            <a:r>
              <a:rPr lang="en-US" sz="2356" dirty="0">
                <a:solidFill>
                  <a:srgbClr val="000000"/>
                </a:solidFill>
                <a:latin typeface="Forum"/>
                <a:ea typeface="Forum"/>
                <a:cs typeface="Forum"/>
                <a:sym typeface="Forum"/>
              </a:rPr>
              <a:t>Blok </a:t>
            </a:r>
            <a:r>
              <a:rPr lang="en-US" sz="2356" dirty="0" err="1">
                <a:solidFill>
                  <a:srgbClr val="000000"/>
                </a:solidFill>
                <a:latin typeface="Forum"/>
                <a:ea typeface="Forum"/>
                <a:cs typeface="Forum"/>
                <a:sym typeface="Forum"/>
              </a:rPr>
              <a:t>normalizasyonu</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yapılır</a:t>
            </a:r>
            <a:endParaRPr lang="en-US" sz="2356" dirty="0">
              <a:solidFill>
                <a:srgbClr val="000000"/>
              </a:solidFill>
              <a:latin typeface="Forum"/>
              <a:ea typeface="Forum"/>
              <a:cs typeface="Forum"/>
              <a:sym typeface="Forum"/>
            </a:endParaRPr>
          </a:p>
          <a:p>
            <a:pPr marL="508663" lvl="1" indent="-254331" algn="l">
              <a:lnSpc>
                <a:spcPts val="3298"/>
              </a:lnSpc>
              <a:buFont typeface="Arial"/>
              <a:buChar char="•"/>
            </a:pPr>
            <a:r>
              <a:rPr lang="en-US" sz="2356" dirty="0">
                <a:solidFill>
                  <a:srgbClr val="000000"/>
                </a:solidFill>
                <a:latin typeface="Forum"/>
                <a:ea typeface="Forum"/>
                <a:cs typeface="Forum"/>
                <a:sym typeface="Forum"/>
              </a:rPr>
              <a:t> Işık </a:t>
            </a:r>
            <a:r>
              <a:rPr lang="en-US" sz="2356" dirty="0" err="1">
                <a:solidFill>
                  <a:srgbClr val="000000"/>
                </a:solidFill>
                <a:latin typeface="Forum"/>
                <a:ea typeface="Forum"/>
                <a:cs typeface="Forum"/>
                <a:sym typeface="Forum"/>
              </a:rPr>
              <a:t>değişimlerine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karşı</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daha</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dayanıklı</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olması</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için</a:t>
            </a:r>
            <a:r>
              <a:rPr lang="en-US" sz="2356" dirty="0">
                <a:solidFill>
                  <a:srgbClr val="000000"/>
                </a:solidFill>
                <a:latin typeface="Forum"/>
                <a:ea typeface="Forum"/>
                <a:cs typeface="Forum"/>
                <a:sym typeface="Forum"/>
              </a:rPr>
              <a:t> normalize </a:t>
            </a:r>
            <a:r>
              <a:rPr lang="en-US" sz="2356" dirty="0" err="1">
                <a:solidFill>
                  <a:srgbClr val="000000"/>
                </a:solidFill>
                <a:latin typeface="Forum"/>
                <a:ea typeface="Forum"/>
                <a:cs typeface="Forum"/>
                <a:sym typeface="Forum"/>
              </a:rPr>
              <a:t>edilir</a:t>
            </a:r>
            <a:r>
              <a:rPr lang="en-US" sz="2356" dirty="0">
                <a:solidFill>
                  <a:srgbClr val="000000"/>
                </a:solidFill>
                <a:latin typeface="Forum"/>
                <a:ea typeface="Forum"/>
                <a:cs typeface="Forum"/>
                <a:sym typeface="Forum"/>
              </a:rPr>
              <a:t>.</a:t>
            </a:r>
          </a:p>
          <a:p>
            <a:pPr marL="508663" lvl="1" indent="-254331" algn="l">
              <a:lnSpc>
                <a:spcPts val="3298"/>
              </a:lnSpc>
              <a:buFont typeface="Arial"/>
              <a:buChar char="•"/>
            </a:pPr>
            <a:r>
              <a:rPr lang="en-US" sz="2356" dirty="0" err="1">
                <a:solidFill>
                  <a:srgbClr val="000000"/>
                </a:solidFill>
                <a:latin typeface="Forum"/>
                <a:ea typeface="Forum"/>
                <a:cs typeface="Forum"/>
                <a:sym typeface="Forum"/>
              </a:rPr>
              <a:t>Özellik</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vektörü</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elde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edilir</a:t>
            </a:r>
            <a:r>
              <a:rPr lang="en-US" sz="2356" dirty="0">
                <a:solidFill>
                  <a:srgbClr val="000000"/>
                </a:solidFill>
                <a:latin typeface="Forum"/>
                <a:ea typeface="Forum"/>
                <a:cs typeface="Forum"/>
                <a:sym typeface="Forum"/>
              </a:rPr>
              <a:t> </a:t>
            </a:r>
          </a:p>
          <a:p>
            <a:pPr marL="508663" lvl="1" indent="-254331" algn="l">
              <a:lnSpc>
                <a:spcPts val="3298"/>
              </a:lnSpc>
              <a:spcBef>
                <a:spcPct val="0"/>
              </a:spcBef>
              <a:buFont typeface="Arial"/>
              <a:buChar char="•"/>
            </a:pP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Makine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öğrenmesi</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modeline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verilecek</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sayısal</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temsil</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oluşur</a:t>
            </a:r>
            <a:r>
              <a:rPr lang="en-US" sz="2356" dirty="0">
                <a:solidFill>
                  <a:srgbClr val="000000"/>
                </a:solidFill>
                <a:latin typeface="Forum"/>
                <a:ea typeface="Forum"/>
                <a:cs typeface="Forum"/>
                <a:sym typeface="Forum"/>
              </a:rPr>
              <a:t>.</a:t>
            </a:r>
          </a:p>
          <a:p>
            <a:pPr algn="l">
              <a:lnSpc>
                <a:spcPts val="3298"/>
              </a:lnSpc>
              <a:spcBef>
                <a:spcPct val="0"/>
              </a:spcBef>
            </a:pPr>
            <a:r>
              <a:rPr lang="en-US" sz="2356" dirty="0" err="1">
                <a:solidFill>
                  <a:srgbClr val="000000"/>
                </a:solidFill>
                <a:latin typeface="Forum"/>
                <a:ea typeface="Forum"/>
                <a:cs typeface="Forum"/>
                <a:sym typeface="Forum"/>
              </a:rPr>
              <a:t>Neden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tercih</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ettik</a:t>
            </a:r>
            <a:r>
              <a:rPr lang="en-US" sz="2356" dirty="0">
                <a:solidFill>
                  <a:srgbClr val="000000"/>
                </a:solidFill>
                <a:latin typeface="Forum"/>
                <a:ea typeface="Forum"/>
                <a:cs typeface="Forum"/>
                <a:sym typeface="Forum"/>
              </a:rPr>
              <a:t> :</a:t>
            </a:r>
          </a:p>
          <a:p>
            <a:pPr algn="l">
              <a:lnSpc>
                <a:spcPts val="3298"/>
              </a:lnSpc>
              <a:spcBef>
                <a:spcPct val="0"/>
              </a:spcBef>
            </a:pPr>
            <a:r>
              <a:rPr lang="en-US" sz="2356" dirty="0">
                <a:solidFill>
                  <a:srgbClr val="000000"/>
                </a:solidFill>
                <a:latin typeface="Forum"/>
                <a:ea typeface="Forum"/>
                <a:cs typeface="Forum"/>
                <a:sym typeface="Forum"/>
              </a:rPr>
              <a:t>CPU </a:t>
            </a:r>
            <a:r>
              <a:rPr lang="en-US" sz="2356" dirty="0" err="1">
                <a:solidFill>
                  <a:srgbClr val="000000"/>
                </a:solidFill>
                <a:latin typeface="Forum"/>
                <a:ea typeface="Forum"/>
                <a:cs typeface="Forum"/>
                <a:sym typeface="Forum"/>
              </a:rPr>
              <a:t>üzerinde</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hızlı</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çalışır</a:t>
            </a:r>
            <a:endParaRPr lang="en-US" sz="2356" dirty="0">
              <a:solidFill>
                <a:srgbClr val="000000"/>
              </a:solidFill>
              <a:latin typeface="Forum"/>
              <a:ea typeface="Forum"/>
              <a:cs typeface="Forum"/>
              <a:sym typeface="Forum"/>
            </a:endParaRPr>
          </a:p>
          <a:p>
            <a:pPr algn="l">
              <a:lnSpc>
                <a:spcPts val="3298"/>
              </a:lnSpc>
              <a:spcBef>
                <a:spcPct val="0"/>
              </a:spcBef>
            </a:pPr>
            <a:r>
              <a:rPr lang="en-US" sz="2356" dirty="0" err="1">
                <a:solidFill>
                  <a:srgbClr val="000000"/>
                </a:solidFill>
                <a:latin typeface="Forum"/>
                <a:ea typeface="Forum"/>
                <a:cs typeface="Forum"/>
                <a:sym typeface="Forum"/>
              </a:rPr>
              <a:t>Eğitim</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ve</a:t>
            </a:r>
            <a:r>
              <a:rPr lang="en-US" sz="2356" dirty="0">
                <a:solidFill>
                  <a:srgbClr val="000000"/>
                </a:solidFill>
                <a:latin typeface="Forum"/>
                <a:ea typeface="Forum"/>
                <a:cs typeface="Forum"/>
                <a:sym typeface="Forum"/>
              </a:rPr>
              <a:t> test </a:t>
            </a:r>
            <a:r>
              <a:rPr lang="en-US" sz="2356" dirty="0" err="1">
                <a:solidFill>
                  <a:srgbClr val="000000"/>
                </a:solidFill>
                <a:latin typeface="Forum"/>
                <a:ea typeface="Forum"/>
                <a:cs typeface="Forum"/>
                <a:sym typeface="Forum"/>
              </a:rPr>
              <a:t>aşamaları</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için</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yeterli</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doğruluk</a:t>
            </a:r>
            <a:r>
              <a:rPr lang="en-US" sz="2356" dirty="0">
                <a:solidFill>
                  <a:srgbClr val="000000"/>
                </a:solidFill>
                <a:latin typeface="Forum"/>
                <a:ea typeface="Forum"/>
                <a:cs typeface="Forum"/>
                <a:sym typeface="Forum"/>
              </a:rPr>
              <a:t> </a:t>
            </a:r>
            <a:r>
              <a:rPr lang="en-US" sz="2356" dirty="0" err="1">
                <a:solidFill>
                  <a:srgbClr val="000000"/>
                </a:solidFill>
                <a:latin typeface="Forum"/>
                <a:ea typeface="Forum"/>
                <a:cs typeface="Forum"/>
                <a:sym typeface="Forum"/>
              </a:rPr>
              <a:t>sağlar</a:t>
            </a:r>
            <a:endParaRPr lang="en-US" sz="2356" dirty="0">
              <a:solidFill>
                <a:srgbClr val="000000"/>
              </a:solidFill>
              <a:latin typeface="Forum"/>
              <a:ea typeface="Forum"/>
              <a:cs typeface="Forum"/>
              <a:sym typeface="For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952500"/>
            <a:ext cx="10629900" cy="6443980"/>
          </a:xfrm>
          <a:prstGeom prst="rect">
            <a:avLst/>
          </a:prstGeom>
        </p:spPr>
        <p:txBody>
          <a:bodyPr wrap="square" lIns="0" tIns="0" rIns="0" bIns="0" rtlCol="0" anchor="t">
            <a:spAutoFit/>
          </a:bodyPr>
          <a:lstStyle/>
          <a:p>
            <a:pPr algn="l">
              <a:lnSpc>
                <a:spcPts val="3920"/>
              </a:lnSpc>
              <a:spcBef>
                <a:spcPct val="0"/>
              </a:spcBef>
            </a:pPr>
            <a:endParaRPr dirty="0"/>
          </a:p>
          <a:p>
            <a:pPr algn="l">
              <a:lnSpc>
                <a:spcPts val="3920"/>
              </a:lnSpc>
              <a:spcBef>
                <a:spcPct val="0"/>
              </a:spcBef>
            </a:pPr>
            <a:r>
              <a:rPr lang="en-US" sz="2800" dirty="0" err="1">
                <a:solidFill>
                  <a:srgbClr val="000000"/>
                </a:solidFill>
                <a:latin typeface="Forum"/>
                <a:ea typeface="Forum"/>
                <a:cs typeface="Forum"/>
                <a:sym typeface="Forum"/>
              </a:rPr>
              <a:t>Eğitim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test </a:t>
            </a:r>
            <a:r>
              <a:rPr lang="en-US" sz="2800" dirty="0" err="1">
                <a:solidFill>
                  <a:srgbClr val="000000"/>
                </a:solidFill>
                <a:latin typeface="Forum"/>
                <a:ea typeface="Forum"/>
                <a:cs typeface="Forum"/>
                <a:sym typeface="Forum"/>
              </a:rPr>
              <a:t>setleri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ayrı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ayrı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embedding’e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dönüştürülür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Eğer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herhangi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sette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bulunamazsa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sistem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hata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verir</a:t>
            </a:r>
            <a:endParaRPr lang="en-US" sz="2800" dirty="0">
              <a:solidFill>
                <a:srgbClr val="000000"/>
              </a:solidFill>
              <a:latin typeface="Forum"/>
              <a:ea typeface="Forum"/>
              <a:cs typeface="Forum"/>
              <a:sym typeface="Forum"/>
            </a:endParaRPr>
          </a:p>
          <a:p>
            <a:pPr algn="l">
              <a:lnSpc>
                <a:spcPts val="3920"/>
              </a:lnSpc>
              <a:spcBef>
                <a:spcPct val="0"/>
              </a:spcBef>
            </a:pPr>
            <a:endParaRPr lang="en-US" sz="2800" dirty="0">
              <a:solidFill>
                <a:srgbClr val="000000"/>
              </a:solidFill>
              <a:latin typeface="Forum"/>
              <a:ea typeface="Forum"/>
              <a:cs typeface="Forum"/>
              <a:sym typeface="Forum"/>
            </a:endParaRPr>
          </a:p>
          <a:p>
            <a:pPr algn="l">
              <a:lnSpc>
                <a:spcPts val="3920"/>
              </a:lnSpc>
              <a:spcBef>
                <a:spcPct val="0"/>
              </a:spcBef>
            </a:pPr>
            <a:endParaRPr lang="en-US" sz="2800" dirty="0">
              <a:solidFill>
                <a:srgbClr val="000000"/>
              </a:solidFill>
              <a:latin typeface="Forum"/>
              <a:ea typeface="Forum"/>
              <a:cs typeface="Forum"/>
              <a:sym typeface="Forum"/>
            </a:endParaRPr>
          </a:p>
          <a:p>
            <a:pPr algn="l">
              <a:lnSpc>
                <a:spcPts val="3920"/>
              </a:lnSpc>
              <a:spcBef>
                <a:spcPct val="0"/>
              </a:spcBef>
            </a:pPr>
            <a:r>
              <a:rPr lang="en-US" sz="2800" dirty="0">
                <a:solidFill>
                  <a:srgbClr val="000000"/>
                </a:solidFill>
                <a:latin typeface="Forum"/>
                <a:ea typeface="Forum"/>
                <a:cs typeface="Forum"/>
                <a:sym typeface="Forum"/>
              </a:rPr>
              <a:t>Test </a:t>
            </a:r>
            <a:r>
              <a:rPr lang="en-US" sz="2800" dirty="0" err="1">
                <a:solidFill>
                  <a:srgbClr val="000000"/>
                </a:solidFill>
                <a:latin typeface="Forum"/>
                <a:ea typeface="Forum"/>
                <a:cs typeface="Forum"/>
                <a:sym typeface="Forum"/>
              </a:rPr>
              <a:t>setinde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olup</a:t>
            </a:r>
            <a:r>
              <a:rPr lang="en-US" sz="2800" dirty="0">
                <a:solidFill>
                  <a:srgbClr val="000000"/>
                </a:solidFill>
                <a:latin typeface="Forum"/>
                <a:ea typeface="Forum"/>
                <a:cs typeface="Forum"/>
                <a:sym typeface="Forum"/>
              </a:rPr>
              <a:t> train </a:t>
            </a:r>
            <a:r>
              <a:rPr lang="en-US" sz="2800" dirty="0" err="1">
                <a:solidFill>
                  <a:srgbClr val="000000"/>
                </a:solidFill>
                <a:latin typeface="Forum"/>
                <a:ea typeface="Forum"/>
                <a:cs typeface="Forum"/>
                <a:sym typeface="Forum"/>
              </a:rPr>
              <a:t>setinde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olmayan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kişiler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otomatik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temizlenir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Böylece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modelin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hiç</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görmediği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sınıflarla</a:t>
            </a:r>
            <a:r>
              <a:rPr lang="en-US" sz="2800" dirty="0">
                <a:solidFill>
                  <a:srgbClr val="000000"/>
                </a:solidFill>
                <a:latin typeface="Forum"/>
                <a:ea typeface="Forum"/>
                <a:cs typeface="Forum"/>
                <a:sym typeface="Forum"/>
              </a:rPr>
              <a:t> test </a:t>
            </a:r>
            <a:r>
              <a:rPr lang="en-US" sz="2800" dirty="0" err="1">
                <a:solidFill>
                  <a:srgbClr val="000000"/>
                </a:solidFill>
                <a:latin typeface="Forum"/>
                <a:ea typeface="Forum"/>
                <a:cs typeface="Forum"/>
                <a:sym typeface="Forum"/>
              </a:rPr>
              <a:t>edilmesi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engellenir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a:solidFill>
                  <a:srgbClr val="000000"/>
                </a:solidFill>
                <a:latin typeface="Forum"/>
                <a:ea typeface="Forum"/>
                <a:cs typeface="Forum"/>
                <a:sym typeface="Forum"/>
              </a:rPr>
              <a:t>Bu </a:t>
            </a:r>
            <a:r>
              <a:rPr lang="en-US" sz="2800" dirty="0" err="1">
                <a:solidFill>
                  <a:srgbClr val="000000"/>
                </a:solidFill>
                <a:latin typeface="Forum"/>
                <a:ea typeface="Forum"/>
                <a:cs typeface="Forum"/>
                <a:sym typeface="Forum"/>
              </a:rPr>
              <a:t>adım</a:t>
            </a:r>
            <a:r>
              <a:rPr lang="en-US" sz="2800" dirty="0">
                <a:solidFill>
                  <a:srgbClr val="000000"/>
                </a:solidFill>
                <a:latin typeface="Forum"/>
                <a:ea typeface="Forum"/>
                <a:cs typeface="Forum"/>
                <a:sym typeface="Forum"/>
              </a:rPr>
              <a:t> model </a:t>
            </a:r>
            <a:r>
              <a:rPr lang="en-US" sz="2800" dirty="0" err="1">
                <a:solidFill>
                  <a:srgbClr val="000000"/>
                </a:solidFill>
                <a:latin typeface="Forum"/>
                <a:ea typeface="Forum"/>
                <a:cs typeface="Forum"/>
                <a:sym typeface="Forum"/>
              </a:rPr>
              <a:t>güvenilirliği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açısından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kritiktir</a:t>
            </a:r>
            <a:endParaRPr lang="en-US" sz="2800" dirty="0">
              <a:solidFill>
                <a:srgbClr val="000000"/>
              </a:solidFill>
              <a:latin typeface="Forum"/>
              <a:ea typeface="Forum"/>
              <a:cs typeface="Forum"/>
              <a:sym typeface="Forum"/>
            </a:endParaRPr>
          </a:p>
          <a:p>
            <a:pPr algn="l">
              <a:lnSpc>
                <a:spcPts val="3920"/>
              </a:lnSpc>
              <a:spcBef>
                <a:spcPct val="0"/>
              </a:spcBef>
            </a:pPr>
            <a:endParaRPr lang="en-US" sz="2800" dirty="0">
              <a:solidFill>
                <a:srgbClr val="000000"/>
              </a:solidFill>
              <a:latin typeface="Forum"/>
              <a:ea typeface="Forum"/>
              <a:cs typeface="Forum"/>
              <a:sym typeface="Forum"/>
            </a:endParaRPr>
          </a:p>
          <a:p>
            <a:pPr algn="l">
              <a:lnSpc>
                <a:spcPts val="3920"/>
              </a:lnSpc>
              <a:spcBef>
                <a:spcPct val="0"/>
              </a:spcBef>
            </a:pPr>
            <a:endParaRPr lang="en-US" sz="2800" dirty="0">
              <a:solidFill>
                <a:srgbClr val="000000"/>
              </a:solidFill>
              <a:latin typeface="Forum"/>
              <a:ea typeface="Forum"/>
              <a:cs typeface="Forum"/>
              <a:sym typeface="Forum"/>
            </a:endParaRPr>
          </a:p>
          <a:p>
            <a:pPr algn="l">
              <a:lnSpc>
                <a:spcPts val="3920"/>
              </a:lnSpc>
            </a:pPr>
            <a:r>
              <a:rPr lang="en-US" sz="2800" dirty="0" err="1">
                <a:solidFill>
                  <a:srgbClr val="000000"/>
                </a:solidFill>
                <a:latin typeface="Forum"/>
                <a:ea typeface="Forum"/>
                <a:cs typeface="Forum"/>
                <a:sym typeface="Forum"/>
              </a:rPr>
              <a:t>Metinsel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isimleri</a:t>
            </a:r>
            <a:r>
              <a:rPr lang="en-US" sz="2800" dirty="0">
                <a:solidFill>
                  <a:srgbClr val="000000"/>
                </a:solidFill>
                <a:latin typeface="Forum"/>
                <a:ea typeface="Forum"/>
                <a:cs typeface="Forum"/>
                <a:sym typeface="Forum"/>
              </a:rPr>
              <a:t> → </a:t>
            </a:r>
            <a:r>
              <a:rPr lang="en-US" sz="2800" dirty="0" err="1">
                <a:solidFill>
                  <a:srgbClr val="000000"/>
                </a:solidFill>
                <a:latin typeface="Forum"/>
                <a:ea typeface="Forum"/>
                <a:cs typeface="Forum"/>
                <a:sym typeface="Forum"/>
              </a:rPr>
              <a:t>sayısal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etiketlere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çevrilir</a:t>
            </a:r>
            <a:endParaRPr lang="en-US" sz="2800" dirty="0">
              <a:solidFill>
                <a:srgbClr val="000000"/>
              </a:solidFill>
              <a:latin typeface="Forum"/>
              <a:ea typeface="Forum"/>
              <a:cs typeface="Forum"/>
              <a:sym typeface="Forum"/>
            </a:endParaRPr>
          </a:p>
          <a:p>
            <a:pPr algn="l">
              <a:lnSpc>
                <a:spcPts val="3920"/>
              </a:lnSpc>
            </a:pPr>
            <a:r>
              <a:rPr lang="en-US" sz="2800" dirty="0" err="1">
                <a:solidFill>
                  <a:srgbClr val="000000"/>
                </a:solidFill>
                <a:latin typeface="Forum"/>
                <a:ea typeface="Forum"/>
                <a:cs typeface="Forum"/>
                <a:sym typeface="Forum"/>
              </a:rPr>
              <a:t>LabelEncoder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kullanılır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Makine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öğrenmesi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algoritmaları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sayısal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etiketlerle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çalışır</a:t>
            </a:r>
            <a:endParaRPr lang="en-US" sz="2800" dirty="0">
              <a:solidFill>
                <a:srgbClr val="000000"/>
              </a:solidFill>
              <a:latin typeface="Forum"/>
              <a:ea typeface="Forum"/>
              <a:cs typeface="Forum"/>
              <a:sym typeface="Forum"/>
            </a:endParaRPr>
          </a:p>
        </p:txBody>
      </p:sp>
      <p:sp>
        <p:nvSpPr>
          <p:cNvPr id="3" name="TextBox 3"/>
          <p:cNvSpPr txBox="1"/>
          <p:nvPr/>
        </p:nvSpPr>
        <p:spPr>
          <a:xfrm>
            <a:off x="1028700" y="962025"/>
            <a:ext cx="6057900"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Eğitim</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ve</a:t>
            </a:r>
            <a:r>
              <a:rPr lang="en-US" sz="3399" dirty="0">
                <a:solidFill>
                  <a:srgbClr val="000000"/>
                </a:solidFill>
                <a:latin typeface="Antonio"/>
                <a:ea typeface="Antonio"/>
                <a:cs typeface="Antonio"/>
                <a:sym typeface="Antonio"/>
              </a:rPr>
              <a:t> Test </a:t>
            </a:r>
            <a:r>
              <a:rPr lang="en-US" sz="3399" dirty="0" err="1">
                <a:solidFill>
                  <a:srgbClr val="000000"/>
                </a:solidFill>
                <a:latin typeface="Antonio"/>
                <a:ea typeface="Antonio"/>
                <a:cs typeface="Antonio"/>
                <a:sym typeface="Antonio"/>
              </a:rPr>
              <a:t>Verisinin</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Hazırlanması</a:t>
            </a:r>
            <a:r>
              <a:rPr lang="en-US" sz="3399" dirty="0">
                <a:solidFill>
                  <a:srgbClr val="000000"/>
                </a:solidFill>
                <a:latin typeface="Antonio"/>
                <a:ea typeface="Antonio"/>
                <a:cs typeface="Antonio"/>
                <a:sym typeface="Antonio"/>
              </a:rPr>
              <a:t>:</a:t>
            </a:r>
          </a:p>
        </p:txBody>
      </p:sp>
      <p:sp>
        <p:nvSpPr>
          <p:cNvPr id="4" name="TextBox 4"/>
          <p:cNvSpPr txBox="1"/>
          <p:nvPr/>
        </p:nvSpPr>
        <p:spPr>
          <a:xfrm>
            <a:off x="1028700" y="2839841"/>
            <a:ext cx="40005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Veri </a:t>
            </a:r>
            <a:r>
              <a:rPr lang="en-US" sz="3399" dirty="0" err="1">
                <a:solidFill>
                  <a:srgbClr val="000000"/>
                </a:solidFill>
                <a:latin typeface="Antonio"/>
                <a:ea typeface="Antonio"/>
                <a:cs typeface="Antonio"/>
                <a:sym typeface="Antonio"/>
              </a:rPr>
              <a:t>Tutarlılığı</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Kontrolü</a:t>
            </a:r>
            <a:r>
              <a:rPr lang="en-US" sz="3399" dirty="0">
                <a:solidFill>
                  <a:srgbClr val="000000"/>
                </a:solidFill>
                <a:latin typeface="Antonio"/>
                <a:ea typeface="Antonio"/>
                <a:cs typeface="Antonio"/>
                <a:sym typeface="Antonio"/>
              </a:rPr>
              <a:t>:</a:t>
            </a:r>
          </a:p>
        </p:txBody>
      </p:sp>
      <p:sp>
        <p:nvSpPr>
          <p:cNvPr id="5" name="TextBox 5"/>
          <p:cNvSpPr txBox="1"/>
          <p:nvPr/>
        </p:nvSpPr>
        <p:spPr>
          <a:xfrm>
            <a:off x="1028700" y="5076825"/>
            <a:ext cx="5829300" cy="580390"/>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Antonio"/>
                <a:ea typeface="Antonio"/>
                <a:cs typeface="Antonio"/>
                <a:sym typeface="Antonio"/>
              </a:rPr>
              <a:t>Label Encoding (</a:t>
            </a:r>
            <a:r>
              <a:rPr lang="en-US" sz="3399" dirty="0" err="1">
                <a:solidFill>
                  <a:srgbClr val="000000"/>
                </a:solidFill>
                <a:latin typeface="Antonio"/>
                <a:ea typeface="Antonio"/>
                <a:cs typeface="Antonio"/>
                <a:sym typeface="Antonio"/>
              </a:rPr>
              <a:t>Etiket</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Dönüştürme</a:t>
            </a:r>
            <a:r>
              <a:rPr lang="en-US" sz="3399" dirty="0">
                <a:solidFill>
                  <a:srgbClr val="000000"/>
                </a:solidFill>
                <a:latin typeface="Antonio"/>
                <a:ea typeface="Antonio"/>
                <a:cs typeface="Antonio"/>
                <a:sym typeface="Antoni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995214" y="952500"/>
            <a:ext cx="16454586" cy="7434580"/>
          </a:xfrm>
          <a:prstGeom prst="rect">
            <a:avLst/>
          </a:prstGeom>
        </p:spPr>
        <p:txBody>
          <a:bodyPr wrap="square" lIns="0" tIns="0" rIns="0" bIns="0" rtlCol="0" anchor="t">
            <a:spAutoFit/>
          </a:bodyPr>
          <a:lstStyle/>
          <a:p>
            <a:pPr algn="just">
              <a:lnSpc>
                <a:spcPts val="3920"/>
              </a:lnSpc>
              <a:spcBef>
                <a:spcPct val="0"/>
              </a:spcBef>
            </a:pPr>
            <a:endParaRPr dirty="0"/>
          </a:p>
          <a:p>
            <a:pPr algn="just">
              <a:lnSpc>
                <a:spcPts val="3920"/>
              </a:lnSpc>
              <a:spcBef>
                <a:spcPct val="0"/>
              </a:spcBef>
            </a:pPr>
            <a:r>
              <a:rPr lang="en-US" sz="2800" dirty="0">
                <a:solidFill>
                  <a:srgbClr val="000000"/>
                </a:solidFill>
                <a:latin typeface="Forum"/>
                <a:ea typeface="Forum"/>
                <a:cs typeface="Forum"/>
                <a:sym typeface="Forum"/>
              </a:rPr>
              <a:t>SVM Nedir :</a:t>
            </a:r>
          </a:p>
          <a:p>
            <a:pPr algn="just">
              <a:lnSpc>
                <a:spcPts val="3920"/>
              </a:lnSpc>
              <a:spcBef>
                <a:spcPct val="0"/>
              </a:spcBef>
            </a:pPr>
            <a:r>
              <a:rPr lang="en-US" sz="2800" dirty="0">
                <a:solidFill>
                  <a:srgbClr val="000000"/>
                </a:solidFill>
                <a:latin typeface="Forum"/>
                <a:ea typeface="Forum"/>
                <a:cs typeface="Forum"/>
                <a:sym typeface="Forum"/>
              </a:rPr>
              <a:t>Support Vector Machine(SVM), </a:t>
            </a:r>
            <a:r>
              <a:rPr lang="en-US" sz="2800" dirty="0" err="1">
                <a:solidFill>
                  <a:srgbClr val="000000"/>
                </a:solidFill>
                <a:latin typeface="Forum"/>
                <a:ea typeface="Forum"/>
                <a:cs typeface="Forum"/>
                <a:sym typeface="Forum"/>
              </a:rPr>
              <a:t>verileri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sınıflandırmak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err="1">
                <a:solidFill>
                  <a:srgbClr val="000000"/>
                </a:solidFill>
                <a:latin typeface="Forum"/>
                <a:ea typeface="Forum"/>
                <a:cs typeface="Forum"/>
                <a:sym typeface="Forum"/>
              </a:rPr>
              <a:t>Sınıflar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arasındaki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en</a:t>
            </a:r>
            <a:r>
              <a:rPr lang="en-US" sz="2800" dirty="0">
                <a:solidFill>
                  <a:srgbClr val="000000"/>
                </a:solidFill>
                <a:latin typeface="Forum"/>
                <a:ea typeface="Forum"/>
                <a:cs typeface="Forum"/>
                <a:sym typeface="Forum"/>
              </a:rPr>
              <a:t> iyi </a:t>
            </a:r>
            <a:r>
              <a:rPr lang="en-US" sz="2800" dirty="0" err="1">
                <a:solidFill>
                  <a:srgbClr val="000000"/>
                </a:solidFill>
                <a:latin typeface="Forum"/>
                <a:ea typeface="Forum"/>
                <a:cs typeface="Forum"/>
                <a:sym typeface="Forum"/>
              </a:rPr>
              <a:t>ayıran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karar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sınırını</a:t>
            </a:r>
            <a:r>
              <a:rPr lang="en-US" sz="2800" dirty="0">
                <a:solidFill>
                  <a:srgbClr val="000000"/>
                </a:solidFill>
                <a:latin typeface="Forum"/>
                <a:ea typeface="Forum"/>
                <a:cs typeface="Forum"/>
                <a:sym typeface="Forum"/>
              </a:rPr>
              <a:t> (hyperplane) </a:t>
            </a:r>
            <a:r>
              <a:rPr lang="en-US" sz="2800" dirty="0" err="1">
                <a:solidFill>
                  <a:srgbClr val="000000"/>
                </a:solidFill>
                <a:latin typeface="Forum"/>
                <a:ea typeface="Forum"/>
                <a:cs typeface="Forum"/>
                <a:sym typeface="Forum"/>
              </a:rPr>
              <a:t>bulmayı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amaçlayanbir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makine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öğrenmesi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algoritmasıdır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Temel </a:t>
            </a:r>
            <a:r>
              <a:rPr lang="en-US" sz="2800" dirty="0" err="1">
                <a:solidFill>
                  <a:srgbClr val="000000"/>
                </a:solidFill>
                <a:latin typeface="Forum"/>
                <a:ea typeface="Forum"/>
                <a:cs typeface="Forum"/>
                <a:sym typeface="Forum"/>
              </a:rPr>
              <a:t>hedefi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Sınıflar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arasındaki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mesafeyi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maksimum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yapan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bulmak</a:t>
            </a:r>
            <a:endParaRPr lang="en-US" sz="2800" dirty="0">
              <a:solidFill>
                <a:srgbClr val="000000"/>
              </a:solidFill>
              <a:latin typeface="Forum"/>
              <a:ea typeface="Forum"/>
              <a:cs typeface="Forum"/>
              <a:sym typeface="Forum"/>
            </a:endParaRPr>
          </a:p>
          <a:p>
            <a:pPr algn="just">
              <a:lnSpc>
                <a:spcPts val="3920"/>
              </a:lnSpc>
              <a:spcBef>
                <a:spcPct val="0"/>
              </a:spcBef>
            </a:pP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Neden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Tanıma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SVM :</a:t>
            </a:r>
          </a:p>
          <a:p>
            <a:pPr algn="just">
              <a:lnSpc>
                <a:spcPts val="3920"/>
              </a:lnSpc>
              <a:spcBef>
                <a:spcPct val="0"/>
              </a:spcBef>
            </a:pP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tanıma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probleminde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kullandığımız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veriler</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128 </a:t>
            </a:r>
            <a:r>
              <a:rPr lang="en-US" sz="2800" dirty="0" err="1">
                <a:solidFill>
                  <a:srgbClr val="000000"/>
                </a:solidFill>
                <a:latin typeface="Forum"/>
                <a:ea typeface="Forum"/>
                <a:cs typeface="Forum"/>
                <a:sym typeface="Forum"/>
              </a:rPr>
              <a:t>boyutlu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embedding </a:t>
            </a:r>
            <a:r>
              <a:rPr lang="en-US" sz="2800" dirty="0" err="1">
                <a:solidFill>
                  <a:srgbClr val="000000"/>
                </a:solidFill>
                <a:latin typeface="Forum"/>
                <a:ea typeface="Forum"/>
                <a:cs typeface="Forum"/>
                <a:sym typeface="Forum"/>
              </a:rPr>
              <a:t>vektörleri</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sayıca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çok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fazla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olmayan</a:t>
            </a:r>
            <a:r>
              <a:rPr lang="en-US" sz="2800" dirty="0">
                <a:solidFill>
                  <a:srgbClr val="000000"/>
                </a:solidFill>
                <a:latin typeface="Forum"/>
                <a:ea typeface="Forum"/>
                <a:cs typeface="Forum"/>
                <a:sym typeface="Forum"/>
              </a:rPr>
              <a:t> ama </a:t>
            </a:r>
            <a:r>
              <a:rPr lang="en-US" sz="2800" dirty="0" err="1">
                <a:solidFill>
                  <a:srgbClr val="000000"/>
                </a:solidFill>
                <a:latin typeface="Forum"/>
                <a:ea typeface="Forum"/>
                <a:cs typeface="Forum"/>
                <a:sym typeface="Forum"/>
              </a:rPr>
              <a:t>ayırt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edici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özellikler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içerir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a:solidFill>
                  <a:srgbClr val="000000"/>
                </a:solidFill>
                <a:latin typeface="Forum"/>
                <a:ea typeface="Forum"/>
                <a:cs typeface="Forum"/>
                <a:sym typeface="Forum"/>
              </a:rPr>
              <a:t>SVM </a:t>
            </a:r>
            <a:r>
              <a:rPr lang="en-US" sz="2800" dirty="0" err="1">
                <a:solidFill>
                  <a:srgbClr val="000000"/>
                </a:solidFill>
                <a:latin typeface="Forum"/>
                <a:ea typeface="Forum"/>
                <a:cs typeface="Forum"/>
                <a:sym typeface="Forum"/>
              </a:rPr>
              <a:t>bu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idealdir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çünkü</a:t>
            </a:r>
            <a:r>
              <a:rPr lang="en-US" sz="2800" dirty="0">
                <a:solidFill>
                  <a:srgbClr val="000000"/>
                </a:solidFill>
                <a:latin typeface="Forum"/>
                <a:ea typeface="Forum"/>
                <a:cs typeface="Forum"/>
                <a:sym typeface="Forum"/>
              </a:rPr>
              <a:t>:</a:t>
            </a:r>
          </a:p>
          <a:p>
            <a:pPr algn="just">
              <a:lnSpc>
                <a:spcPts val="3920"/>
              </a:lnSpc>
              <a:spcBef>
                <a:spcPct val="0"/>
              </a:spcBef>
            </a:pPr>
            <a:r>
              <a:rPr lang="en-US" sz="2800" dirty="0">
                <a:solidFill>
                  <a:srgbClr val="000000"/>
                </a:solidFill>
                <a:latin typeface="Forum"/>
                <a:ea typeface="Forum"/>
                <a:cs typeface="Forum"/>
                <a:sym typeface="Forum"/>
              </a:rPr>
              <a:t>Yüksek </a:t>
            </a:r>
            <a:r>
              <a:rPr lang="en-US" sz="2800" dirty="0" err="1">
                <a:solidFill>
                  <a:srgbClr val="000000"/>
                </a:solidFill>
                <a:latin typeface="Forum"/>
                <a:ea typeface="Forum"/>
                <a:cs typeface="Forum"/>
                <a:sym typeface="Forum"/>
              </a:rPr>
              <a:t>Boyutlu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verilerde</a:t>
            </a:r>
            <a:r>
              <a:rPr lang="en-US" sz="2800" dirty="0">
                <a:solidFill>
                  <a:srgbClr val="000000"/>
                </a:solidFill>
                <a:latin typeface="Forum"/>
                <a:ea typeface="Forum"/>
                <a:cs typeface="Forum"/>
                <a:sym typeface="Forum"/>
              </a:rPr>
              <a:t> iyi </a:t>
            </a:r>
            <a:r>
              <a:rPr lang="en-US" sz="2800" dirty="0" err="1">
                <a:solidFill>
                  <a:srgbClr val="000000"/>
                </a:solidFill>
                <a:latin typeface="Forum"/>
                <a:ea typeface="Forum"/>
                <a:cs typeface="Forum"/>
                <a:sym typeface="Forum"/>
              </a:rPr>
              <a:t>çalışır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az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veriyle</a:t>
            </a:r>
            <a:r>
              <a:rPr lang="en-US" sz="2800" dirty="0">
                <a:solidFill>
                  <a:srgbClr val="000000"/>
                </a:solidFill>
                <a:latin typeface="Forum"/>
                <a:ea typeface="Forum"/>
                <a:cs typeface="Forum"/>
                <a:sym typeface="Forum"/>
              </a:rPr>
              <a:t> bile </a:t>
            </a:r>
            <a:r>
              <a:rPr lang="en-US" sz="2800" dirty="0" err="1">
                <a:solidFill>
                  <a:srgbClr val="000000"/>
                </a:solidFill>
                <a:latin typeface="Forum"/>
                <a:ea typeface="Forum"/>
                <a:cs typeface="Forum"/>
                <a:sym typeface="Forum"/>
              </a:rPr>
              <a:t>güçlü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genleeme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yapabilir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err="1">
                <a:solidFill>
                  <a:srgbClr val="000000"/>
                </a:solidFill>
                <a:latin typeface="Forum"/>
                <a:ea typeface="Forum"/>
                <a:cs typeface="Forum"/>
                <a:sym typeface="Forum"/>
              </a:rPr>
              <a:t>Overfittinge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karşı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dayanıklıdır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a:solidFill>
                  <a:srgbClr val="000000"/>
                </a:solidFill>
                <a:latin typeface="Forum"/>
                <a:ea typeface="Forum"/>
                <a:cs typeface="Forum"/>
                <a:sym typeface="Forum"/>
              </a:rPr>
              <a:t>Face embedding + </a:t>
            </a:r>
            <a:r>
              <a:rPr lang="en-US" sz="2800" dirty="0" err="1">
                <a:solidFill>
                  <a:srgbClr val="000000"/>
                </a:solidFill>
                <a:latin typeface="Forum"/>
                <a:ea typeface="Forum"/>
                <a:cs typeface="Forum"/>
                <a:sym typeface="Forum"/>
              </a:rPr>
              <a:t>sınıflandırma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senaryolarında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yaygın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kullanılır</a:t>
            </a:r>
            <a:endParaRPr lang="en-US" sz="2800" dirty="0">
              <a:solidFill>
                <a:srgbClr val="000000"/>
              </a:solidFill>
              <a:latin typeface="Forum"/>
              <a:ea typeface="Forum"/>
              <a:cs typeface="Forum"/>
              <a:sym typeface="Forum"/>
            </a:endParaRPr>
          </a:p>
        </p:txBody>
      </p:sp>
      <p:sp>
        <p:nvSpPr>
          <p:cNvPr id="3" name="TextBox 3"/>
          <p:cNvSpPr txBox="1"/>
          <p:nvPr/>
        </p:nvSpPr>
        <p:spPr>
          <a:xfrm>
            <a:off x="995214" y="971550"/>
            <a:ext cx="6548586" cy="497840"/>
          </a:xfrm>
          <a:prstGeom prst="rect">
            <a:avLst/>
          </a:prstGeom>
        </p:spPr>
        <p:txBody>
          <a:bodyPr wrap="square" lIns="0" tIns="0" rIns="0" bIns="0" rtlCol="0" anchor="t">
            <a:spAutoFit/>
          </a:bodyPr>
          <a:lstStyle/>
          <a:p>
            <a:pPr algn="ctr">
              <a:lnSpc>
                <a:spcPts val="4060"/>
              </a:lnSpc>
              <a:spcBef>
                <a:spcPct val="0"/>
              </a:spcBef>
            </a:pPr>
            <a:r>
              <a:rPr lang="en-US" sz="2900" dirty="0">
                <a:solidFill>
                  <a:srgbClr val="000000"/>
                </a:solidFill>
                <a:latin typeface="Antonio"/>
                <a:ea typeface="Antonio"/>
                <a:cs typeface="Antonio"/>
                <a:sym typeface="Antonio"/>
              </a:rPr>
              <a:t>Model </a:t>
            </a:r>
            <a:r>
              <a:rPr lang="en-US" sz="2900" dirty="0" err="1">
                <a:solidFill>
                  <a:srgbClr val="000000"/>
                </a:solidFill>
                <a:latin typeface="Antonio"/>
                <a:ea typeface="Antonio"/>
                <a:cs typeface="Antonio"/>
                <a:sym typeface="Antonio"/>
              </a:rPr>
              <a:t>Eğitimi</a:t>
            </a:r>
            <a:r>
              <a:rPr lang="en-US" sz="2900" dirty="0">
                <a:solidFill>
                  <a:srgbClr val="000000"/>
                </a:solidFill>
                <a:latin typeface="Antonio"/>
                <a:ea typeface="Antonio"/>
                <a:cs typeface="Antonio"/>
                <a:sym typeface="Antonio"/>
              </a:rPr>
              <a:t> – Support Vector Machine (SVM)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096" y="1535001"/>
            <a:ext cx="8115904" cy="5812287"/>
          </a:xfrm>
          <a:prstGeom prst="rect">
            <a:avLst/>
          </a:prstGeom>
        </p:spPr>
        <p:txBody>
          <a:bodyPr lIns="0" tIns="0" rIns="0" bIns="0" rtlCol="0" anchor="t">
            <a:spAutoFit/>
          </a:bodyPr>
          <a:lstStyle/>
          <a:p>
            <a:pPr algn="just">
              <a:lnSpc>
                <a:spcPts val="3562"/>
              </a:lnSpc>
              <a:spcBef>
                <a:spcPct val="0"/>
              </a:spcBef>
            </a:pPr>
            <a:r>
              <a:rPr lang="en-US" sz="2544" dirty="0">
                <a:solidFill>
                  <a:srgbClr val="000000"/>
                </a:solidFill>
                <a:latin typeface="Forum"/>
                <a:ea typeface="Forum"/>
                <a:cs typeface="Forum"/>
                <a:sym typeface="Forum"/>
              </a:rPr>
              <a:t>Bu </a:t>
            </a:r>
            <a:r>
              <a:rPr lang="en-US" sz="2544" dirty="0" err="1">
                <a:solidFill>
                  <a:srgbClr val="000000"/>
                </a:solidFill>
                <a:latin typeface="Forum"/>
                <a:ea typeface="Forum"/>
                <a:cs typeface="Forum"/>
                <a:sym typeface="Forum"/>
              </a:rPr>
              <a:t>projede</a:t>
            </a:r>
            <a:r>
              <a:rPr lang="en-US" sz="2544" dirty="0">
                <a:solidFill>
                  <a:srgbClr val="000000"/>
                </a:solidFill>
                <a:latin typeface="Forum"/>
                <a:ea typeface="Forum"/>
                <a:cs typeface="Forum"/>
                <a:sym typeface="Forum"/>
              </a:rPr>
              <a:t> linear kernel </a:t>
            </a:r>
            <a:r>
              <a:rPr lang="en-US" sz="2544" dirty="0" err="1">
                <a:solidFill>
                  <a:srgbClr val="000000"/>
                </a:solidFill>
                <a:latin typeface="Forum"/>
                <a:ea typeface="Forum"/>
                <a:cs typeface="Forum"/>
                <a:sym typeface="Forum"/>
              </a:rPr>
              <a:t>tercih</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edilmiştir</a:t>
            </a:r>
            <a:r>
              <a:rPr lang="en-US" sz="2544" dirty="0">
                <a:solidFill>
                  <a:srgbClr val="000000"/>
                </a:solidFill>
                <a:latin typeface="Forum"/>
                <a:ea typeface="Forum"/>
                <a:cs typeface="Forum"/>
                <a:sym typeface="Forum"/>
              </a:rPr>
              <a:t>.</a:t>
            </a:r>
          </a:p>
          <a:p>
            <a:pPr algn="just">
              <a:lnSpc>
                <a:spcPts val="3562"/>
              </a:lnSpc>
              <a:spcBef>
                <a:spcPct val="0"/>
              </a:spcBef>
            </a:pPr>
            <a:endParaRPr lang="en-US" sz="2544" dirty="0">
              <a:solidFill>
                <a:srgbClr val="000000"/>
              </a:solidFill>
              <a:latin typeface="Forum"/>
              <a:ea typeface="Forum"/>
              <a:cs typeface="Forum"/>
              <a:sym typeface="Forum"/>
            </a:endParaRPr>
          </a:p>
          <a:p>
            <a:pPr algn="just">
              <a:lnSpc>
                <a:spcPts val="3562"/>
              </a:lnSpc>
              <a:spcBef>
                <a:spcPct val="0"/>
              </a:spcBef>
            </a:pPr>
            <a:r>
              <a:rPr lang="en-US" sz="2544" dirty="0" err="1">
                <a:solidFill>
                  <a:srgbClr val="000000"/>
                </a:solidFill>
                <a:latin typeface="Forum"/>
                <a:ea typeface="Forum"/>
                <a:cs typeface="Forum"/>
                <a:sym typeface="Forum"/>
              </a:rPr>
              <a:t>Sebebi</a:t>
            </a:r>
            <a:r>
              <a:rPr lang="en-US" sz="2544" dirty="0">
                <a:solidFill>
                  <a:srgbClr val="000000"/>
                </a:solidFill>
                <a:latin typeface="Forum"/>
                <a:ea typeface="Forum"/>
                <a:cs typeface="Forum"/>
                <a:sym typeface="Forum"/>
              </a:rPr>
              <a:t>:</a:t>
            </a:r>
          </a:p>
          <a:p>
            <a:pPr algn="just">
              <a:lnSpc>
                <a:spcPts val="3562"/>
              </a:lnSpc>
              <a:spcBef>
                <a:spcPct val="0"/>
              </a:spcBef>
            </a:pPr>
            <a:r>
              <a:rPr lang="en-US" sz="2544" dirty="0">
                <a:solidFill>
                  <a:srgbClr val="000000"/>
                </a:solidFill>
                <a:latin typeface="Forum"/>
                <a:ea typeface="Forum"/>
                <a:cs typeface="Forum"/>
                <a:sym typeface="Forum"/>
              </a:rPr>
              <a:t>Face </a:t>
            </a:r>
            <a:r>
              <a:rPr lang="en-US" sz="2544" dirty="0" err="1">
                <a:solidFill>
                  <a:srgbClr val="000000"/>
                </a:solidFill>
                <a:latin typeface="Forum"/>
                <a:ea typeface="Forum"/>
                <a:cs typeface="Forum"/>
                <a:sym typeface="Forum"/>
              </a:rPr>
              <a:t>embeddingler</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zaten</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önceden</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öğrenilmiş</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bir</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uzayda</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ayrık</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halle</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gelmiştir</a:t>
            </a:r>
            <a:endParaRPr lang="en-US" sz="2544" dirty="0">
              <a:solidFill>
                <a:srgbClr val="000000"/>
              </a:solidFill>
              <a:latin typeface="Forum"/>
              <a:ea typeface="Forum"/>
              <a:cs typeface="Forum"/>
              <a:sym typeface="Forum"/>
            </a:endParaRPr>
          </a:p>
          <a:p>
            <a:pPr algn="just">
              <a:lnSpc>
                <a:spcPts val="3562"/>
              </a:lnSpc>
              <a:spcBef>
                <a:spcPct val="0"/>
              </a:spcBef>
            </a:pPr>
            <a:r>
              <a:rPr lang="en-US" sz="2544" dirty="0" err="1">
                <a:solidFill>
                  <a:srgbClr val="000000"/>
                </a:solidFill>
                <a:latin typeface="Forum"/>
                <a:ea typeface="Forum"/>
                <a:cs typeface="Forum"/>
                <a:sym typeface="Forum"/>
              </a:rPr>
              <a:t>Kişiler</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arası</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farklar</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çoğu</a:t>
            </a:r>
            <a:r>
              <a:rPr lang="en-US" sz="2544" dirty="0">
                <a:solidFill>
                  <a:srgbClr val="000000"/>
                </a:solidFill>
                <a:latin typeface="Forum"/>
                <a:ea typeface="Forum"/>
                <a:cs typeface="Forum"/>
                <a:sym typeface="Forum"/>
              </a:rPr>
              <a:t> zaman </a:t>
            </a:r>
            <a:r>
              <a:rPr lang="en-US" sz="2544" dirty="0" err="1">
                <a:solidFill>
                  <a:srgbClr val="000000"/>
                </a:solidFill>
                <a:latin typeface="Forum"/>
                <a:ea typeface="Forum"/>
                <a:cs typeface="Forum"/>
                <a:sym typeface="Forum"/>
              </a:rPr>
              <a:t>doğrusal</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olarak</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ayrılabilir</a:t>
            </a:r>
            <a:endParaRPr lang="en-US" sz="2544" dirty="0">
              <a:solidFill>
                <a:srgbClr val="000000"/>
              </a:solidFill>
              <a:latin typeface="Forum"/>
              <a:ea typeface="Forum"/>
              <a:cs typeface="Forum"/>
              <a:sym typeface="Forum"/>
            </a:endParaRPr>
          </a:p>
          <a:p>
            <a:pPr algn="just">
              <a:lnSpc>
                <a:spcPts val="3562"/>
              </a:lnSpc>
              <a:spcBef>
                <a:spcPct val="0"/>
              </a:spcBef>
            </a:pPr>
            <a:endParaRPr lang="en-US" sz="2544" dirty="0">
              <a:solidFill>
                <a:srgbClr val="000000"/>
              </a:solidFill>
              <a:latin typeface="Forum"/>
              <a:ea typeface="Forum"/>
              <a:cs typeface="Forum"/>
              <a:sym typeface="Forum"/>
            </a:endParaRPr>
          </a:p>
          <a:p>
            <a:pPr algn="just">
              <a:lnSpc>
                <a:spcPts val="3562"/>
              </a:lnSpc>
              <a:spcBef>
                <a:spcPct val="0"/>
              </a:spcBef>
            </a:pPr>
            <a:r>
              <a:rPr lang="en-US" sz="2544" dirty="0">
                <a:solidFill>
                  <a:srgbClr val="000000"/>
                </a:solidFill>
                <a:latin typeface="Forum"/>
                <a:ea typeface="Forum"/>
                <a:cs typeface="Forum"/>
                <a:sym typeface="Forum"/>
              </a:rPr>
              <a:t>Linear Kernel</a:t>
            </a:r>
          </a:p>
          <a:p>
            <a:pPr algn="just">
              <a:lnSpc>
                <a:spcPts val="3562"/>
              </a:lnSpc>
              <a:spcBef>
                <a:spcPct val="0"/>
              </a:spcBef>
            </a:pPr>
            <a:r>
              <a:rPr lang="en-US" sz="2544" dirty="0">
                <a:solidFill>
                  <a:srgbClr val="000000"/>
                </a:solidFill>
                <a:latin typeface="Forum"/>
                <a:ea typeface="Forum"/>
                <a:cs typeface="Forum"/>
                <a:sym typeface="Forum"/>
              </a:rPr>
              <a:t>Daha </a:t>
            </a:r>
            <a:r>
              <a:rPr lang="en-US" sz="2544" dirty="0" err="1">
                <a:solidFill>
                  <a:srgbClr val="000000"/>
                </a:solidFill>
                <a:latin typeface="Forum"/>
                <a:ea typeface="Forum"/>
                <a:cs typeface="Forum"/>
                <a:sym typeface="Forum"/>
              </a:rPr>
              <a:t>hızlıdır</a:t>
            </a:r>
            <a:r>
              <a:rPr lang="en-US" sz="2544" dirty="0">
                <a:solidFill>
                  <a:srgbClr val="000000"/>
                </a:solidFill>
                <a:latin typeface="Forum"/>
                <a:ea typeface="Forum"/>
                <a:cs typeface="Forum"/>
                <a:sym typeface="Forum"/>
              </a:rPr>
              <a:t> </a:t>
            </a:r>
          </a:p>
          <a:p>
            <a:pPr algn="just">
              <a:lnSpc>
                <a:spcPts val="3562"/>
              </a:lnSpc>
              <a:spcBef>
                <a:spcPct val="0"/>
              </a:spcBef>
            </a:pPr>
            <a:r>
              <a:rPr lang="en-US" sz="2544" dirty="0">
                <a:solidFill>
                  <a:srgbClr val="000000"/>
                </a:solidFill>
                <a:latin typeface="Forum"/>
                <a:ea typeface="Forum"/>
                <a:cs typeface="Forum"/>
                <a:sym typeface="Forum"/>
              </a:rPr>
              <a:t>Daha </a:t>
            </a:r>
            <a:r>
              <a:rPr lang="en-US" sz="2544" dirty="0" err="1">
                <a:solidFill>
                  <a:srgbClr val="000000"/>
                </a:solidFill>
                <a:latin typeface="Forum"/>
                <a:ea typeface="Forum"/>
                <a:cs typeface="Forum"/>
                <a:sym typeface="Forum"/>
              </a:rPr>
              <a:t>stabildir</a:t>
            </a:r>
            <a:endParaRPr lang="en-US" sz="2544" dirty="0">
              <a:solidFill>
                <a:srgbClr val="000000"/>
              </a:solidFill>
              <a:latin typeface="Forum"/>
              <a:ea typeface="Forum"/>
              <a:cs typeface="Forum"/>
              <a:sym typeface="Forum"/>
            </a:endParaRPr>
          </a:p>
          <a:p>
            <a:pPr algn="just">
              <a:lnSpc>
                <a:spcPts val="3562"/>
              </a:lnSpc>
              <a:spcBef>
                <a:spcPct val="0"/>
              </a:spcBef>
            </a:pPr>
            <a:r>
              <a:rPr lang="en-US" sz="2544" dirty="0" err="1">
                <a:solidFill>
                  <a:srgbClr val="000000"/>
                </a:solidFill>
                <a:latin typeface="Forum"/>
                <a:ea typeface="Forum"/>
                <a:cs typeface="Forum"/>
                <a:sym typeface="Forum"/>
              </a:rPr>
              <a:t>Küçük</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veri</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setlerinde</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daha</a:t>
            </a:r>
            <a:r>
              <a:rPr lang="en-US" sz="2544" dirty="0">
                <a:solidFill>
                  <a:srgbClr val="000000"/>
                </a:solidFill>
                <a:latin typeface="Forum"/>
                <a:ea typeface="Forum"/>
                <a:cs typeface="Forum"/>
                <a:sym typeface="Forum"/>
              </a:rPr>
              <a:t> iyi </a:t>
            </a:r>
            <a:r>
              <a:rPr lang="en-US" sz="2544" dirty="0" err="1">
                <a:solidFill>
                  <a:srgbClr val="000000"/>
                </a:solidFill>
                <a:latin typeface="Forum"/>
                <a:ea typeface="Forum"/>
                <a:cs typeface="Forum"/>
                <a:sym typeface="Forum"/>
              </a:rPr>
              <a:t>sonuç</a:t>
            </a:r>
            <a:r>
              <a:rPr lang="en-US" sz="2544" dirty="0">
                <a:solidFill>
                  <a:srgbClr val="000000"/>
                </a:solidFill>
                <a:latin typeface="Forum"/>
                <a:ea typeface="Forum"/>
                <a:cs typeface="Forum"/>
                <a:sym typeface="Forum"/>
              </a:rPr>
              <a:t> </a:t>
            </a:r>
            <a:r>
              <a:rPr lang="en-US" sz="2544" dirty="0" err="1">
                <a:solidFill>
                  <a:srgbClr val="000000"/>
                </a:solidFill>
                <a:latin typeface="Forum"/>
                <a:ea typeface="Forum"/>
                <a:cs typeface="Forum"/>
                <a:sym typeface="Forum"/>
              </a:rPr>
              <a:t>verir</a:t>
            </a:r>
            <a:endParaRPr lang="en-US" sz="2544" dirty="0">
              <a:solidFill>
                <a:srgbClr val="000000"/>
              </a:solidFill>
              <a:latin typeface="Forum"/>
              <a:ea typeface="Forum"/>
              <a:cs typeface="Forum"/>
              <a:sym typeface="Forum"/>
            </a:endParaRPr>
          </a:p>
          <a:p>
            <a:pPr algn="just">
              <a:lnSpc>
                <a:spcPts val="3562"/>
              </a:lnSpc>
              <a:spcBef>
                <a:spcPct val="0"/>
              </a:spcBef>
            </a:pPr>
            <a:endParaRPr lang="en-US" sz="2544" dirty="0">
              <a:solidFill>
                <a:srgbClr val="000000"/>
              </a:solidFill>
              <a:latin typeface="Forum"/>
              <a:ea typeface="Forum"/>
              <a:cs typeface="Forum"/>
              <a:sym typeface="Forum"/>
            </a:endParaRPr>
          </a:p>
          <a:p>
            <a:pPr algn="just">
              <a:lnSpc>
                <a:spcPts val="3562"/>
              </a:lnSpc>
              <a:spcBef>
                <a:spcPct val="0"/>
              </a:spcBef>
            </a:pPr>
            <a:endParaRPr lang="en-US" sz="2544" dirty="0">
              <a:solidFill>
                <a:srgbClr val="000000"/>
              </a:solidFill>
              <a:latin typeface="Forum"/>
              <a:ea typeface="Forum"/>
              <a:cs typeface="Forum"/>
              <a:sym typeface="Forum"/>
            </a:endParaRPr>
          </a:p>
        </p:txBody>
      </p:sp>
      <p:sp>
        <p:nvSpPr>
          <p:cNvPr id="3" name="TextBox 3"/>
          <p:cNvSpPr txBox="1"/>
          <p:nvPr/>
        </p:nvSpPr>
        <p:spPr>
          <a:xfrm>
            <a:off x="9741172" y="1733800"/>
            <a:ext cx="7251428" cy="4357347"/>
          </a:xfrm>
          <a:prstGeom prst="rect">
            <a:avLst/>
          </a:prstGeom>
        </p:spPr>
        <p:txBody>
          <a:bodyPr wrap="square" lIns="0" tIns="0" rIns="0" bIns="0" rtlCol="0" anchor="t">
            <a:spAutoFit/>
          </a:bodyPr>
          <a:lstStyle/>
          <a:p>
            <a:pPr algn="l">
              <a:lnSpc>
                <a:spcPts val="3780"/>
              </a:lnSpc>
              <a:spcBef>
                <a:spcPct val="0"/>
              </a:spcBef>
            </a:pPr>
            <a:r>
              <a:rPr lang="en-US" sz="2700" dirty="0">
                <a:solidFill>
                  <a:srgbClr val="000000"/>
                </a:solidFill>
                <a:latin typeface="Forum"/>
                <a:ea typeface="Forum"/>
                <a:cs typeface="Forum"/>
                <a:sym typeface="Forum"/>
              </a:rPr>
              <a:t>Bu problem:</a:t>
            </a:r>
          </a:p>
          <a:p>
            <a:pPr algn="l">
              <a:lnSpc>
                <a:spcPts val="3780"/>
              </a:lnSpc>
              <a:spcBef>
                <a:spcPct val="0"/>
              </a:spcBef>
            </a:pPr>
            <a:r>
              <a:rPr lang="en-US" sz="2700" dirty="0">
                <a:solidFill>
                  <a:srgbClr val="000000"/>
                </a:solidFill>
                <a:latin typeface="Forum"/>
                <a:ea typeface="Forum"/>
                <a:cs typeface="Forum"/>
                <a:sym typeface="Forum"/>
              </a:rPr>
              <a:t>Binary </a:t>
            </a:r>
            <a:r>
              <a:rPr lang="en-US" sz="2700" dirty="0" err="1">
                <a:solidFill>
                  <a:srgbClr val="000000"/>
                </a:solidFill>
                <a:latin typeface="Forum"/>
                <a:ea typeface="Forum"/>
                <a:cs typeface="Forum"/>
                <a:sym typeface="Forum"/>
              </a:rPr>
              <a:t>değil</a:t>
            </a:r>
            <a:endParaRPr lang="en-US" sz="2700" dirty="0">
              <a:solidFill>
                <a:srgbClr val="000000"/>
              </a:solidFill>
              <a:latin typeface="Forum"/>
              <a:ea typeface="Forum"/>
              <a:cs typeface="Forum"/>
              <a:sym typeface="Forum"/>
            </a:endParaRPr>
          </a:p>
          <a:p>
            <a:pPr algn="l">
              <a:lnSpc>
                <a:spcPts val="3780"/>
              </a:lnSpc>
              <a:spcBef>
                <a:spcPct val="0"/>
              </a:spcBef>
            </a:pPr>
            <a:r>
              <a:rPr lang="en-US" sz="2700" dirty="0" err="1">
                <a:solidFill>
                  <a:srgbClr val="000000"/>
                </a:solidFill>
                <a:latin typeface="Forum"/>
                <a:ea typeface="Forum"/>
                <a:cs typeface="Forum"/>
                <a:sym typeface="Forum"/>
              </a:rPr>
              <a:t>Çok</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sınıflı</a:t>
            </a:r>
            <a:r>
              <a:rPr lang="en-US" sz="2700" dirty="0">
                <a:solidFill>
                  <a:srgbClr val="000000"/>
                </a:solidFill>
                <a:latin typeface="Forum"/>
                <a:ea typeface="Forum"/>
                <a:cs typeface="Forum"/>
                <a:sym typeface="Forum"/>
              </a:rPr>
              <a:t> (multi-class) </a:t>
            </a:r>
            <a:r>
              <a:rPr lang="en-US" sz="2700" dirty="0" err="1">
                <a:solidFill>
                  <a:srgbClr val="000000"/>
                </a:solidFill>
                <a:latin typeface="Forum"/>
                <a:ea typeface="Forum"/>
                <a:cs typeface="Forum"/>
                <a:sym typeface="Forum"/>
              </a:rPr>
              <a:t>bir</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sınıflandırma</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problemidir</a:t>
            </a:r>
            <a:endParaRPr lang="en-US" sz="2700" dirty="0">
              <a:solidFill>
                <a:srgbClr val="000000"/>
              </a:solidFill>
              <a:latin typeface="Forum"/>
              <a:ea typeface="Forum"/>
              <a:cs typeface="Forum"/>
              <a:sym typeface="Forum"/>
            </a:endParaRPr>
          </a:p>
          <a:p>
            <a:pPr algn="l">
              <a:lnSpc>
                <a:spcPts val="3780"/>
              </a:lnSpc>
              <a:spcBef>
                <a:spcPct val="0"/>
              </a:spcBef>
            </a:pPr>
            <a:r>
              <a:rPr lang="en-US" sz="2700" dirty="0">
                <a:solidFill>
                  <a:srgbClr val="000000"/>
                </a:solidFill>
                <a:latin typeface="Forum"/>
                <a:ea typeface="Forum"/>
                <a:cs typeface="Forum"/>
                <a:sym typeface="Forum"/>
              </a:rPr>
              <a:t>SVM, </a:t>
            </a:r>
            <a:r>
              <a:rPr lang="en-US" sz="2700" dirty="0" err="1">
                <a:solidFill>
                  <a:srgbClr val="000000"/>
                </a:solidFill>
                <a:latin typeface="Forum"/>
                <a:ea typeface="Forum"/>
                <a:cs typeface="Forum"/>
                <a:sym typeface="Forum"/>
              </a:rPr>
              <a:t>bunu</a:t>
            </a:r>
            <a:r>
              <a:rPr lang="en-US" sz="2700" dirty="0">
                <a:solidFill>
                  <a:srgbClr val="000000"/>
                </a:solidFill>
                <a:latin typeface="Forum"/>
                <a:ea typeface="Forum"/>
                <a:cs typeface="Forum"/>
                <a:sym typeface="Forum"/>
              </a:rPr>
              <a:t>:</a:t>
            </a:r>
          </a:p>
          <a:p>
            <a:pPr algn="l">
              <a:lnSpc>
                <a:spcPts val="3780"/>
              </a:lnSpc>
              <a:spcBef>
                <a:spcPct val="0"/>
              </a:spcBef>
            </a:pPr>
            <a:r>
              <a:rPr lang="en-US" sz="2700" dirty="0">
                <a:solidFill>
                  <a:srgbClr val="000000"/>
                </a:solidFill>
                <a:latin typeface="Forum"/>
                <a:ea typeface="Forum"/>
                <a:cs typeface="Forum"/>
                <a:sym typeface="Forum"/>
              </a:rPr>
              <a:t>One vs one </a:t>
            </a:r>
            <a:r>
              <a:rPr lang="en-US" sz="2700" dirty="0" err="1">
                <a:solidFill>
                  <a:srgbClr val="000000"/>
                </a:solidFill>
                <a:latin typeface="Forum"/>
                <a:ea typeface="Forum"/>
                <a:cs typeface="Forum"/>
                <a:sym typeface="Forum"/>
              </a:rPr>
              <a:t>yaklaşımı</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ile</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çözer</a:t>
            </a:r>
            <a:endParaRPr lang="en-US" sz="2700" dirty="0">
              <a:solidFill>
                <a:srgbClr val="000000"/>
              </a:solidFill>
              <a:latin typeface="Forum"/>
              <a:ea typeface="Forum"/>
              <a:cs typeface="Forum"/>
              <a:sym typeface="Forum"/>
            </a:endParaRPr>
          </a:p>
          <a:p>
            <a:pPr algn="l">
              <a:lnSpc>
                <a:spcPts val="3780"/>
              </a:lnSpc>
              <a:spcBef>
                <a:spcPct val="0"/>
              </a:spcBef>
            </a:pPr>
            <a:r>
              <a:rPr lang="en-US" sz="2700" dirty="0">
                <a:solidFill>
                  <a:srgbClr val="000000"/>
                </a:solidFill>
                <a:latin typeface="Forum"/>
                <a:ea typeface="Forum"/>
                <a:cs typeface="Forum"/>
                <a:sym typeface="Forum"/>
              </a:rPr>
              <a:t>Her </a:t>
            </a:r>
            <a:r>
              <a:rPr lang="en-US" sz="2700" dirty="0" err="1">
                <a:solidFill>
                  <a:srgbClr val="000000"/>
                </a:solidFill>
                <a:latin typeface="Forum"/>
                <a:ea typeface="Forum"/>
                <a:cs typeface="Forum"/>
                <a:sym typeface="Forum"/>
              </a:rPr>
              <a:t>kişi</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için</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ayrı</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karar</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sınırları</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oluşturur</a:t>
            </a:r>
            <a:endParaRPr lang="en-US" sz="2700" dirty="0">
              <a:solidFill>
                <a:srgbClr val="000000"/>
              </a:solidFill>
              <a:latin typeface="Forum"/>
              <a:ea typeface="Forum"/>
              <a:cs typeface="Forum"/>
              <a:sym typeface="Forum"/>
            </a:endParaRPr>
          </a:p>
          <a:p>
            <a:pPr algn="l">
              <a:lnSpc>
                <a:spcPts val="3780"/>
              </a:lnSpc>
              <a:spcBef>
                <a:spcPct val="0"/>
              </a:spcBef>
            </a:pPr>
            <a:r>
              <a:rPr lang="en-US" sz="2700" dirty="0">
                <a:solidFill>
                  <a:srgbClr val="000000"/>
                </a:solidFill>
                <a:latin typeface="Forum"/>
                <a:ea typeface="Forum"/>
                <a:cs typeface="Forum"/>
                <a:sym typeface="Forum"/>
              </a:rPr>
              <a:t>Bu </a:t>
            </a:r>
            <a:r>
              <a:rPr lang="en-US" sz="2700" dirty="0" err="1">
                <a:solidFill>
                  <a:srgbClr val="000000"/>
                </a:solidFill>
                <a:latin typeface="Forum"/>
                <a:ea typeface="Forum"/>
                <a:cs typeface="Forum"/>
                <a:sym typeface="Forum"/>
              </a:rPr>
              <a:t>sayede</a:t>
            </a:r>
            <a:r>
              <a:rPr lang="en-US" sz="2700" dirty="0">
                <a:solidFill>
                  <a:srgbClr val="000000"/>
                </a:solidFill>
                <a:latin typeface="Forum"/>
                <a:ea typeface="Forum"/>
                <a:cs typeface="Forum"/>
                <a:sym typeface="Forum"/>
              </a:rPr>
              <a:t> model:</a:t>
            </a:r>
          </a:p>
          <a:p>
            <a:pPr algn="l">
              <a:lnSpc>
                <a:spcPts val="3780"/>
              </a:lnSpc>
              <a:spcBef>
                <a:spcPct val="0"/>
              </a:spcBef>
            </a:pPr>
            <a:r>
              <a:rPr lang="en-US" sz="2700" dirty="0">
                <a:solidFill>
                  <a:srgbClr val="000000"/>
                </a:solidFill>
                <a:latin typeface="Forum"/>
                <a:ea typeface="Forum"/>
                <a:cs typeface="Forum"/>
                <a:sym typeface="Forum"/>
              </a:rPr>
              <a:t>Birden </a:t>
            </a:r>
            <a:r>
              <a:rPr lang="en-US" sz="2700" dirty="0" err="1">
                <a:solidFill>
                  <a:srgbClr val="000000"/>
                </a:solidFill>
                <a:latin typeface="Forum"/>
                <a:ea typeface="Forum"/>
                <a:cs typeface="Forum"/>
                <a:sym typeface="Forum"/>
              </a:rPr>
              <a:t>fazla</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kişiyi</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aynı</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anda</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ayırt</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edebilir</a:t>
            </a:r>
            <a:endParaRPr lang="en-US" sz="2700" dirty="0">
              <a:solidFill>
                <a:srgbClr val="000000"/>
              </a:solidFill>
              <a:latin typeface="Forum"/>
              <a:ea typeface="Forum"/>
              <a:cs typeface="Forum"/>
              <a:sym typeface="Forum"/>
            </a:endParaRPr>
          </a:p>
          <a:p>
            <a:pPr algn="l">
              <a:lnSpc>
                <a:spcPts val="3780"/>
              </a:lnSpc>
              <a:spcBef>
                <a:spcPct val="0"/>
              </a:spcBef>
            </a:pPr>
            <a:r>
              <a:rPr lang="en-US" sz="2700" dirty="0">
                <a:solidFill>
                  <a:srgbClr val="000000"/>
                </a:solidFill>
                <a:latin typeface="Forum"/>
                <a:ea typeface="Forum"/>
                <a:cs typeface="Forum"/>
                <a:sym typeface="Forum"/>
              </a:rPr>
              <a:t>Yeni </a:t>
            </a:r>
            <a:r>
              <a:rPr lang="en-US" sz="2700" dirty="0" err="1">
                <a:solidFill>
                  <a:srgbClr val="000000"/>
                </a:solidFill>
                <a:latin typeface="Forum"/>
                <a:ea typeface="Forum"/>
                <a:cs typeface="Forum"/>
                <a:sym typeface="Forum"/>
              </a:rPr>
              <a:t>bir</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yüz</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geldiğinde</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en</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uygun</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sınıfı</a:t>
            </a:r>
            <a:r>
              <a:rPr lang="en-US" sz="2700" dirty="0">
                <a:solidFill>
                  <a:srgbClr val="000000"/>
                </a:solidFill>
                <a:latin typeface="Forum"/>
                <a:ea typeface="Forum"/>
                <a:cs typeface="Forum"/>
                <a:sym typeface="Forum"/>
              </a:rPr>
              <a:t> </a:t>
            </a:r>
            <a:r>
              <a:rPr lang="en-US" sz="2700" dirty="0" err="1">
                <a:solidFill>
                  <a:srgbClr val="000000"/>
                </a:solidFill>
                <a:latin typeface="Forum"/>
                <a:ea typeface="Forum"/>
                <a:cs typeface="Forum"/>
                <a:sym typeface="Forum"/>
              </a:rPr>
              <a:t>seçer</a:t>
            </a:r>
            <a:endParaRPr lang="en-US" sz="2700" dirty="0">
              <a:solidFill>
                <a:srgbClr val="000000"/>
              </a:solidFill>
              <a:latin typeface="Forum"/>
              <a:ea typeface="Forum"/>
              <a:cs typeface="Forum"/>
              <a:sym typeface="Forum"/>
            </a:endParaRPr>
          </a:p>
        </p:txBody>
      </p:sp>
      <p:sp>
        <p:nvSpPr>
          <p:cNvPr id="4" name="TextBox 4"/>
          <p:cNvSpPr txBox="1"/>
          <p:nvPr/>
        </p:nvSpPr>
        <p:spPr>
          <a:xfrm>
            <a:off x="1028700" y="981075"/>
            <a:ext cx="2857500" cy="47180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Antonio"/>
                <a:ea typeface="Antonio"/>
                <a:cs typeface="Antonio"/>
                <a:sym typeface="Antonio"/>
              </a:rPr>
              <a:t>Linear Kernel </a:t>
            </a:r>
            <a:r>
              <a:rPr lang="en-US" sz="2800" dirty="0" err="1">
                <a:solidFill>
                  <a:srgbClr val="000000"/>
                </a:solidFill>
                <a:latin typeface="Antonio"/>
                <a:ea typeface="Antonio"/>
                <a:cs typeface="Antonio"/>
                <a:sym typeface="Antonio"/>
              </a:rPr>
              <a:t>Seçimi</a:t>
            </a:r>
            <a:r>
              <a:rPr lang="en-US" sz="2800" dirty="0">
                <a:solidFill>
                  <a:srgbClr val="000000"/>
                </a:solidFill>
                <a:latin typeface="Antonio"/>
                <a:ea typeface="Antonio"/>
                <a:cs typeface="Antonio"/>
                <a:sym typeface="Antonio"/>
              </a:rPr>
              <a:t>:</a:t>
            </a:r>
          </a:p>
        </p:txBody>
      </p:sp>
      <p:sp>
        <p:nvSpPr>
          <p:cNvPr id="5" name="TextBox 5"/>
          <p:cNvSpPr txBox="1"/>
          <p:nvPr/>
        </p:nvSpPr>
        <p:spPr>
          <a:xfrm>
            <a:off x="9741172" y="981075"/>
            <a:ext cx="5651228" cy="471805"/>
          </a:xfrm>
          <a:prstGeom prst="rect">
            <a:avLst/>
          </a:prstGeom>
        </p:spPr>
        <p:txBody>
          <a:bodyPr wrap="square" lIns="0" tIns="0" rIns="0" bIns="0" rtlCol="0" anchor="t">
            <a:spAutoFit/>
          </a:bodyPr>
          <a:lstStyle/>
          <a:p>
            <a:pPr algn="ctr">
              <a:lnSpc>
                <a:spcPts val="3920"/>
              </a:lnSpc>
              <a:spcBef>
                <a:spcPct val="0"/>
              </a:spcBef>
            </a:pPr>
            <a:r>
              <a:rPr lang="en-US" sz="2800">
                <a:solidFill>
                  <a:srgbClr val="000000"/>
                </a:solidFill>
                <a:latin typeface="Antonio"/>
                <a:ea typeface="Antonio"/>
                <a:cs typeface="Antonio"/>
                <a:sym typeface="Antonio"/>
              </a:rPr>
              <a:t>Çok sınıflı yapı (Multi class classification)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918791" y="1842277"/>
            <a:ext cx="7387009" cy="7089826"/>
          </a:xfrm>
          <a:prstGeom prst="rect">
            <a:avLst/>
          </a:prstGeom>
        </p:spPr>
        <p:txBody>
          <a:bodyPr wrap="square" lIns="0" tIns="0" rIns="0" bIns="0" rtlCol="0" anchor="t">
            <a:spAutoFit/>
          </a:bodyPr>
          <a:lstStyle/>
          <a:p>
            <a:pPr algn="l">
              <a:lnSpc>
                <a:spcPts val="3690"/>
              </a:lnSpc>
              <a:spcBef>
                <a:spcPct val="0"/>
              </a:spcBef>
            </a:pPr>
            <a:r>
              <a:rPr lang="en-US" sz="2636" dirty="0">
                <a:solidFill>
                  <a:srgbClr val="000000"/>
                </a:solidFill>
                <a:latin typeface="Forum"/>
                <a:ea typeface="Forum"/>
                <a:cs typeface="Forum"/>
                <a:sym typeface="Forum"/>
              </a:rPr>
              <a:t>SVC(probability=True)</a:t>
            </a:r>
          </a:p>
          <a:p>
            <a:pPr algn="l">
              <a:lnSpc>
                <a:spcPts val="3690"/>
              </a:lnSpc>
              <a:spcBef>
                <a:spcPct val="0"/>
              </a:spcBef>
            </a:pPr>
            <a:r>
              <a:rPr lang="en-US" sz="2636" dirty="0">
                <a:solidFill>
                  <a:srgbClr val="000000"/>
                </a:solidFill>
                <a:latin typeface="Forum"/>
                <a:ea typeface="Forum"/>
                <a:cs typeface="Forum"/>
                <a:sym typeface="Forum"/>
              </a:rPr>
              <a:t>Bu </a:t>
            </a:r>
            <a:r>
              <a:rPr lang="en-US" sz="2636" dirty="0" err="1">
                <a:solidFill>
                  <a:srgbClr val="000000"/>
                </a:solidFill>
                <a:latin typeface="Forum"/>
                <a:ea typeface="Forum"/>
                <a:cs typeface="Forum"/>
                <a:sym typeface="Forum"/>
              </a:rPr>
              <a:t>parametre</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sayesinde</a:t>
            </a:r>
            <a:r>
              <a:rPr lang="en-US" sz="2636" dirty="0">
                <a:solidFill>
                  <a:srgbClr val="000000"/>
                </a:solidFill>
                <a:latin typeface="Forum"/>
                <a:ea typeface="Forum"/>
                <a:cs typeface="Forum"/>
                <a:sym typeface="Forum"/>
              </a:rPr>
              <a:t> model:</a:t>
            </a:r>
          </a:p>
          <a:p>
            <a:pPr algn="l">
              <a:lnSpc>
                <a:spcPts val="3690"/>
              </a:lnSpc>
              <a:spcBef>
                <a:spcPct val="0"/>
              </a:spcBef>
            </a:pPr>
            <a:r>
              <a:rPr lang="en-US" sz="2636" dirty="0" err="1">
                <a:solidFill>
                  <a:srgbClr val="000000"/>
                </a:solidFill>
                <a:latin typeface="Forum"/>
                <a:ea typeface="Forum"/>
                <a:cs typeface="Forum"/>
                <a:sym typeface="Forum"/>
              </a:rPr>
              <a:t>Sadece</a:t>
            </a:r>
            <a:r>
              <a:rPr lang="en-US" sz="2636" dirty="0">
                <a:solidFill>
                  <a:srgbClr val="000000"/>
                </a:solidFill>
                <a:latin typeface="Forum"/>
                <a:ea typeface="Forum"/>
                <a:cs typeface="Forum"/>
                <a:sym typeface="Forum"/>
              </a:rPr>
              <a:t> "Kim" </a:t>
            </a:r>
            <a:r>
              <a:rPr lang="en-US" sz="2636" dirty="0" err="1">
                <a:solidFill>
                  <a:srgbClr val="000000"/>
                </a:solidFill>
                <a:latin typeface="Forum"/>
                <a:ea typeface="Forum"/>
                <a:cs typeface="Forum"/>
                <a:sym typeface="Forum"/>
              </a:rPr>
              <a:t>olduğunu</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söylemez</a:t>
            </a:r>
            <a:endParaRPr lang="en-US" sz="2636" dirty="0">
              <a:solidFill>
                <a:srgbClr val="000000"/>
              </a:solidFill>
              <a:latin typeface="Forum"/>
              <a:ea typeface="Forum"/>
              <a:cs typeface="Forum"/>
              <a:sym typeface="Forum"/>
            </a:endParaRPr>
          </a:p>
          <a:p>
            <a:pPr algn="l">
              <a:lnSpc>
                <a:spcPts val="3690"/>
              </a:lnSpc>
              <a:spcBef>
                <a:spcPct val="0"/>
              </a:spcBef>
            </a:pPr>
            <a:r>
              <a:rPr lang="en-US" sz="2636" dirty="0" err="1">
                <a:solidFill>
                  <a:srgbClr val="000000"/>
                </a:solidFill>
                <a:latin typeface="Forum"/>
                <a:ea typeface="Forum"/>
                <a:cs typeface="Forum"/>
                <a:sym typeface="Forum"/>
              </a:rPr>
              <a:t>Aynı</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zamanda</a:t>
            </a:r>
            <a:r>
              <a:rPr lang="en-US" sz="2636" dirty="0">
                <a:solidFill>
                  <a:srgbClr val="000000"/>
                </a:solidFill>
                <a:latin typeface="Forum"/>
                <a:ea typeface="Forum"/>
                <a:cs typeface="Forum"/>
                <a:sym typeface="Forum"/>
              </a:rPr>
              <a:t> ne </a:t>
            </a:r>
            <a:r>
              <a:rPr lang="en-US" sz="2636" dirty="0" err="1">
                <a:solidFill>
                  <a:srgbClr val="000000"/>
                </a:solidFill>
                <a:latin typeface="Forum"/>
                <a:ea typeface="Forum"/>
                <a:cs typeface="Forum"/>
                <a:sym typeface="Forum"/>
              </a:rPr>
              <a:t>kadar</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emin</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olduğunuda</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hesaplar</a:t>
            </a:r>
            <a:endParaRPr lang="en-US" sz="2636" dirty="0">
              <a:solidFill>
                <a:srgbClr val="000000"/>
              </a:solidFill>
              <a:latin typeface="Forum"/>
              <a:ea typeface="Forum"/>
              <a:cs typeface="Forum"/>
              <a:sym typeface="Forum"/>
            </a:endParaRPr>
          </a:p>
          <a:p>
            <a:pPr algn="l">
              <a:lnSpc>
                <a:spcPts val="3690"/>
              </a:lnSpc>
              <a:spcBef>
                <a:spcPct val="0"/>
              </a:spcBef>
            </a:pPr>
            <a:endParaRPr lang="en-US" sz="2636" dirty="0">
              <a:solidFill>
                <a:srgbClr val="000000"/>
              </a:solidFill>
              <a:latin typeface="Forum"/>
              <a:ea typeface="Forum"/>
              <a:cs typeface="Forum"/>
              <a:sym typeface="Forum"/>
            </a:endParaRPr>
          </a:p>
          <a:p>
            <a:pPr algn="l">
              <a:lnSpc>
                <a:spcPts val="3690"/>
              </a:lnSpc>
              <a:spcBef>
                <a:spcPct val="0"/>
              </a:spcBef>
            </a:pPr>
            <a:r>
              <a:rPr lang="en-US" sz="2636" dirty="0">
                <a:solidFill>
                  <a:srgbClr val="000000"/>
                </a:solidFill>
                <a:latin typeface="Forum"/>
                <a:ea typeface="Forum"/>
                <a:cs typeface="Forum"/>
                <a:sym typeface="Forum"/>
              </a:rPr>
              <a:t>Örnek:</a:t>
            </a:r>
          </a:p>
          <a:p>
            <a:pPr algn="l">
              <a:lnSpc>
                <a:spcPts val="3690"/>
              </a:lnSpc>
              <a:spcBef>
                <a:spcPct val="0"/>
              </a:spcBef>
            </a:pPr>
            <a:r>
              <a:rPr lang="en-US" sz="2636" dirty="0">
                <a:solidFill>
                  <a:srgbClr val="000000"/>
                </a:solidFill>
                <a:latin typeface="Forum"/>
                <a:ea typeface="Forum"/>
                <a:cs typeface="Forum"/>
                <a:sym typeface="Forum"/>
              </a:rPr>
              <a:t>Ahmet -&gt; %92</a:t>
            </a:r>
          </a:p>
          <a:p>
            <a:pPr algn="l">
              <a:lnSpc>
                <a:spcPts val="3690"/>
              </a:lnSpc>
              <a:spcBef>
                <a:spcPct val="0"/>
              </a:spcBef>
            </a:pPr>
            <a:r>
              <a:rPr lang="en-US" sz="2636" dirty="0">
                <a:solidFill>
                  <a:srgbClr val="000000"/>
                </a:solidFill>
                <a:latin typeface="Forum"/>
                <a:ea typeface="Forum"/>
                <a:cs typeface="Forum"/>
                <a:sym typeface="Forum"/>
              </a:rPr>
              <a:t>Mehmet -&gt; %6</a:t>
            </a:r>
          </a:p>
          <a:p>
            <a:pPr algn="l">
              <a:lnSpc>
                <a:spcPts val="3690"/>
              </a:lnSpc>
              <a:spcBef>
                <a:spcPct val="0"/>
              </a:spcBef>
            </a:pPr>
            <a:r>
              <a:rPr lang="en-US" sz="2636" dirty="0" err="1">
                <a:solidFill>
                  <a:srgbClr val="000000"/>
                </a:solidFill>
                <a:latin typeface="Forum"/>
                <a:ea typeface="Forum"/>
                <a:cs typeface="Forum"/>
                <a:sym typeface="Forum"/>
              </a:rPr>
              <a:t>Diğer</a:t>
            </a:r>
            <a:r>
              <a:rPr lang="en-US" sz="2636" dirty="0">
                <a:solidFill>
                  <a:srgbClr val="000000"/>
                </a:solidFill>
                <a:latin typeface="Forum"/>
                <a:ea typeface="Forum"/>
                <a:cs typeface="Forum"/>
                <a:sym typeface="Forum"/>
              </a:rPr>
              <a:t> -&gt;%2</a:t>
            </a:r>
          </a:p>
          <a:p>
            <a:pPr algn="l">
              <a:lnSpc>
                <a:spcPts val="3690"/>
              </a:lnSpc>
              <a:spcBef>
                <a:spcPct val="0"/>
              </a:spcBef>
            </a:pPr>
            <a:endParaRPr lang="en-US" sz="2636" dirty="0">
              <a:solidFill>
                <a:srgbClr val="000000"/>
              </a:solidFill>
              <a:latin typeface="Forum"/>
              <a:ea typeface="Forum"/>
              <a:cs typeface="Forum"/>
              <a:sym typeface="Forum"/>
            </a:endParaRPr>
          </a:p>
          <a:p>
            <a:pPr algn="l">
              <a:lnSpc>
                <a:spcPts val="3690"/>
              </a:lnSpc>
              <a:spcBef>
                <a:spcPct val="0"/>
              </a:spcBef>
            </a:pPr>
            <a:r>
              <a:rPr lang="en-US" sz="2636" dirty="0">
                <a:solidFill>
                  <a:srgbClr val="000000"/>
                </a:solidFill>
                <a:latin typeface="Forum"/>
                <a:ea typeface="Forum"/>
                <a:cs typeface="Forum"/>
                <a:sym typeface="Forum"/>
              </a:rPr>
              <a:t>Bu </a:t>
            </a:r>
            <a:r>
              <a:rPr lang="en-US" sz="2636" dirty="0" err="1">
                <a:solidFill>
                  <a:srgbClr val="000000"/>
                </a:solidFill>
                <a:latin typeface="Forum"/>
                <a:ea typeface="Forum"/>
                <a:cs typeface="Forum"/>
                <a:sym typeface="Forum"/>
              </a:rPr>
              <a:t>özellik</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sayesinde</a:t>
            </a:r>
            <a:r>
              <a:rPr lang="en-US" sz="2636" dirty="0">
                <a:solidFill>
                  <a:srgbClr val="000000"/>
                </a:solidFill>
                <a:latin typeface="Forum"/>
                <a:ea typeface="Forum"/>
                <a:cs typeface="Forum"/>
                <a:sym typeface="Forum"/>
              </a:rPr>
              <a:t> </a:t>
            </a:r>
          </a:p>
          <a:p>
            <a:pPr algn="l">
              <a:lnSpc>
                <a:spcPts val="3690"/>
              </a:lnSpc>
              <a:spcBef>
                <a:spcPct val="0"/>
              </a:spcBef>
            </a:pPr>
            <a:r>
              <a:rPr lang="en-US" sz="2636" dirty="0">
                <a:solidFill>
                  <a:srgbClr val="000000"/>
                </a:solidFill>
                <a:latin typeface="Forum"/>
                <a:ea typeface="Forum"/>
                <a:cs typeface="Forum"/>
                <a:sym typeface="Forum"/>
              </a:rPr>
              <a:t>Güven </a:t>
            </a:r>
            <a:r>
              <a:rPr lang="en-US" sz="2636" dirty="0" err="1">
                <a:solidFill>
                  <a:srgbClr val="000000"/>
                </a:solidFill>
                <a:latin typeface="Forum"/>
                <a:ea typeface="Forum"/>
                <a:cs typeface="Forum"/>
                <a:sym typeface="Forum"/>
              </a:rPr>
              <a:t>eşiği</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belirlenebilir</a:t>
            </a:r>
            <a:endParaRPr lang="en-US" sz="2636" dirty="0">
              <a:solidFill>
                <a:srgbClr val="000000"/>
              </a:solidFill>
              <a:latin typeface="Forum"/>
              <a:ea typeface="Forum"/>
              <a:cs typeface="Forum"/>
              <a:sym typeface="Forum"/>
            </a:endParaRPr>
          </a:p>
          <a:p>
            <a:pPr algn="l">
              <a:lnSpc>
                <a:spcPts val="3690"/>
              </a:lnSpc>
              <a:spcBef>
                <a:spcPct val="0"/>
              </a:spcBef>
            </a:pPr>
            <a:r>
              <a:rPr lang="en-US" sz="2636" dirty="0" err="1">
                <a:solidFill>
                  <a:srgbClr val="000000"/>
                </a:solidFill>
                <a:latin typeface="Forum"/>
                <a:ea typeface="Forum"/>
                <a:cs typeface="Forum"/>
                <a:sym typeface="Forum"/>
              </a:rPr>
              <a:t>Düşük</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güven</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durumunda</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Tanınmadı</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kararı</a:t>
            </a:r>
            <a:r>
              <a:rPr lang="en-US" sz="2636" dirty="0">
                <a:solidFill>
                  <a:srgbClr val="000000"/>
                </a:solidFill>
                <a:latin typeface="Forum"/>
                <a:ea typeface="Forum"/>
                <a:cs typeface="Forum"/>
                <a:sym typeface="Forum"/>
              </a:rPr>
              <a:t> </a:t>
            </a:r>
            <a:r>
              <a:rPr lang="en-US" sz="2636" dirty="0" err="1">
                <a:solidFill>
                  <a:srgbClr val="000000"/>
                </a:solidFill>
                <a:latin typeface="Forum"/>
                <a:ea typeface="Forum"/>
                <a:cs typeface="Forum"/>
                <a:sym typeface="Forum"/>
              </a:rPr>
              <a:t>verilebilir</a:t>
            </a:r>
            <a:endParaRPr lang="en-US" sz="2636" dirty="0">
              <a:solidFill>
                <a:srgbClr val="000000"/>
              </a:solidFill>
              <a:latin typeface="Forum"/>
              <a:ea typeface="Forum"/>
              <a:cs typeface="Forum"/>
              <a:sym typeface="Forum"/>
            </a:endParaRPr>
          </a:p>
          <a:p>
            <a:pPr algn="l">
              <a:lnSpc>
                <a:spcPts val="3690"/>
              </a:lnSpc>
              <a:spcBef>
                <a:spcPct val="0"/>
              </a:spcBef>
            </a:pPr>
            <a:endParaRPr lang="en-US" sz="2636" dirty="0">
              <a:solidFill>
                <a:srgbClr val="000000"/>
              </a:solidFill>
              <a:latin typeface="Forum"/>
              <a:ea typeface="Forum"/>
              <a:cs typeface="Forum"/>
              <a:sym typeface="Forum"/>
            </a:endParaRPr>
          </a:p>
          <a:p>
            <a:pPr algn="l">
              <a:lnSpc>
                <a:spcPts val="3690"/>
              </a:lnSpc>
              <a:spcBef>
                <a:spcPct val="0"/>
              </a:spcBef>
            </a:pPr>
            <a:endParaRPr lang="en-US" sz="2636" dirty="0">
              <a:solidFill>
                <a:srgbClr val="000000"/>
              </a:solidFill>
              <a:latin typeface="Forum"/>
              <a:ea typeface="Forum"/>
              <a:cs typeface="Forum"/>
              <a:sym typeface="Forum"/>
            </a:endParaRPr>
          </a:p>
        </p:txBody>
      </p:sp>
      <p:sp>
        <p:nvSpPr>
          <p:cNvPr id="3" name="TextBox 3"/>
          <p:cNvSpPr txBox="1"/>
          <p:nvPr/>
        </p:nvSpPr>
        <p:spPr>
          <a:xfrm>
            <a:off x="918791" y="981075"/>
            <a:ext cx="4034209" cy="471805"/>
          </a:xfrm>
          <a:prstGeom prst="rect">
            <a:avLst/>
          </a:prstGeom>
        </p:spPr>
        <p:txBody>
          <a:bodyPr wrap="square" lIns="0" tIns="0" rIns="0" bIns="0" rtlCol="0" anchor="t">
            <a:spAutoFit/>
          </a:bodyPr>
          <a:lstStyle/>
          <a:p>
            <a:pPr algn="ctr">
              <a:lnSpc>
                <a:spcPts val="3920"/>
              </a:lnSpc>
              <a:spcBef>
                <a:spcPct val="0"/>
              </a:spcBef>
            </a:pPr>
            <a:r>
              <a:rPr lang="en-US" sz="2800" dirty="0">
                <a:solidFill>
                  <a:srgbClr val="000000"/>
                </a:solidFill>
                <a:latin typeface="Antonio"/>
                <a:ea typeface="Antonio"/>
                <a:cs typeface="Antonio"/>
                <a:sym typeface="Antonio"/>
              </a:rPr>
              <a:t>Probability=True Ne </a:t>
            </a:r>
            <a:r>
              <a:rPr lang="en-US" sz="2800" dirty="0" err="1">
                <a:solidFill>
                  <a:srgbClr val="000000"/>
                </a:solidFill>
                <a:latin typeface="Antonio"/>
                <a:ea typeface="Antonio"/>
                <a:cs typeface="Antonio"/>
                <a:sym typeface="Antonio"/>
              </a:rPr>
              <a:t>İşe</a:t>
            </a:r>
            <a:r>
              <a:rPr lang="en-US" sz="2800" dirty="0">
                <a:solidFill>
                  <a:srgbClr val="000000"/>
                </a:solidFill>
                <a:latin typeface="Antonio"/>
                <a:ea typeface="Antonio"/>
                <a:cs typeface="Antonio"/>
                <a:sym typeface="Antonio"/>
              </a:rPr>
              <a:t> Yarar?</a:t>
            </a:r>
          </a:p>
        </p:txBody>
      </p:sp>
      <p:sp>
        <p:nvSpPr>
          <p:cNvPr id="4" name="TextBox 4"/>
          <p:cNvSpPr txBox="1"/>
          <p:nvPr/>
        </p:nvSpPr>
        <p:spPr>
          <a:xfrm>
            <a:off x="8693824" y="2129100"/>
            <a:ext cx="8374975" cy="5453380"/>
          </a:xfrm>
          <a:prstGeom prst="rect">
            <a:avLst/>
          </a:prstGeom>
        </p:spPr>
        <p:txBody>
          <a:bodyPr wrap="square" lIns="0" tIns="0" rIns="0" bIns="0" rtlCol="0" anchor="t">
            <a:spAutoFit/>
          </a:bodyPr>
          <a:lstStyle/>
          <a:p>
            <a:pPr algn="l">
              <a:lnSpc>
                <a:spcPts val="3920"/>
              </a:lnSpc>
              <a:spcBef>
                <a:spcPct val="0"/>
              </a:spcBef>
            </a:pPr>
            <a:r>
              <a:rPr lang="en-US" sz="2800" dirty="0">
                <a:solidFill>
                  <a:srgbClr val="000000"/>
                </a:solidFill>
                <a:latin typeface="Forum"/>
                <a:ea typeface="Forum"/>
                <a:cs typeface="Forum"/>
                <a:sym typeface="Forum"/>
              </a:rPr>
              <a:t>Model </a:t>
            </a:r>
            <a:r>
              <a:rPr lang="en-US" sz="2800" dirty="0" err="1">
                <a:solidFill>
                  <a:srgbClr val="000000"/>
                </a:solidFill>
                <a:latin typeface="Forum"/>
                <a:ea typeface="Forum"/>
                <a:cs typeface="Forum"/>
                <a:sym typeface="Forum"/>
              </a:rPr>
              <a:t>Eğitim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Süreci</a:t>
            </a:r>
            <a:r>
              <a:rPr lang="en-US" sz="2800" dirty="0">
                <a:solidFill>
                  <a:srgbClr val="000000"/>
                </a:solidFill>
                <a:latin typeface="Forum"/>
                <a:ea typeface="Forum"/>
                <a:cs typeface="Forum"/>
                <a:sym typeface="Forum"/>
              </a:rPr>
              <a:t> :</a:t>
            </a:r>
          </a:p>
          <a:p>
            <a:pPr algn="l">
              <a:lnSpc>
                <a:spcPts val="3920"/>
              </a:lnSpc>
              <a:spcBef>
                <a:spcPct val="0"/>
              </a:spcBef>
            </a:pPr>
            <a:r>
              <a:rPr lang="en-US" sz="2800" dirty="0">
                <a:solidFill>
                  <a:srgbClr val="000000"/>
                </a:solidFill>
                <a:latin typeface="Forum"/>
                <a:ea typeface="Forum"/>
                <a:cs typeface="Forum"/>
                <a:sym typeface="Forum"/>
              </a:rPr>
              <a:t>Model, her </a:t>
            </a:r>
            <a:r>
              <a:rPr lang="en-US" sz="2800" dirty="0" err="1">
                <a:solidFill>
                  <a:srgbClr val="000000"/>
                </a:solidFill>
                <a:latin typeface="Forum"/>
                <a:ea typeface="Forum"/>
                <a:cs typeface="Forum"/>
                <a:sym typeface="Forum"/>
              </a:rPr>
              <a:t>kişinin</a:t>
            </a:r>
            <a:r>
              <a:rPr lang="en-US" sz="2800" dirty="0">
                <a:solidFill>
                  <a:srgbClr val="000000"/>
                </a:solidFill>
                <a:latin typeface="Forum"/>
                <a:ea typeface="Forum"/>
                <a:cs typeface="Forum"/>
                <a:sym typeface="Forum"/>
              </a:rPr>
              <a:t> embedding </a:t>
            </a:r>
            <a:r>
              <a:rPr lang="en-US" sz="2800" dirty="0" err="1">
                <a:solidFill>
                  <a:srgbClr val="000000"/>
                </a:solidFill>
                <a:latin typeface="Forum"/>
                <a:ea typeface="Forum"/>
                <a:cs typeface="Forum"/>
                <a:sym typeface="Forum"/>
              </a:rPr>
              <a:t>dağılımını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öğrenir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Sınıflar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arası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uygun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ayırıcı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sınırları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oluşturur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Eğitim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sonrası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gerçek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zamanlı</a:t>
            </a:r>
            <a:r>
              <a:rPr lang="en-US" sz="2800" dirty="0">
                <a:solidFill>
                  <a:srgbClr val="000000"/>
                </a:solidFill>
                <a:latin typeface="Forum"/>
                <a:ea typeface="Forum"/>
                <a:cs typeface="Forum"/>
                <a:sym typeface="Forum"/>
              </a:rPr>
              <a:t> test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hazır</a:t>
            </a:r>
            <a:r>
              <a:rPr lang="en-US" sz="2800" dirty="0">
                <a:solidFill>
                  <a:srgbClr val="000000"/>
                </a:solidFill>
                <a:latin typeface="Forum"/>
                <a:ea typeface="Forum"/>
                <a:cs typeface="Forum"/>
                <a:sym typeface="Forum"/>
              </a:rPr>
              <a:t> hale </a:t>
            </a:r>
            <a:r>
              <a:rPr lang="en-US" sz="2800" dirty="0" err="1">
                <a:solidFill>
                  <a:srgbClr val="000000"/>
                </a:solidFill>
                <a:latin typeface="Forum"/>
                <a:ea typeface="Forum"/>
                <a:cs typeface="Forum"/>
                <a:sym typeface="Forum"/>
              </a:rPr>
              <a:t>gelebilir</a:t>
            </a:r>
            <a:endParaRPr lang="en-US" sz="2800" dirty="0">
              <a:solidFill>
                <a:srgbClr val="000000"/>
              </a:solidFill>
              <a:latin typeface="Forum"/>
              <a:ea typeface="Forum"/>
              <a:cs typeface="Forum"/>
              <a:sym typeface="Forum"/>
            </a:endParaRPr>
          </a:p>
          <a:p>
            <a:pPr algn="l">
              <a:lnSpc>
                <a:spcPts val="3920"/>
              </a:lnSpc>
              <a:spcBef>
                <a:spcPct val="0"/>
              </a:spcBef>
            </a:pP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SVM'nin</a:t>
            </a:r>
            <a:r>
              <a:rPr lang="en-US" sz="2800" dirty="0">
                <a:solidFill>
                  <a:srgbClr val="000000"/>
                </a:solidFill>
                <a:latin typeface="Forum"/>
                <a:ea typeface="Forum"/>
                <a:cs typeface="Forum"/>
                <a:sym typeface="Forum"/>
              </a:rPr>
              <a:t> Bu </a:t>
            </a:r>
            <a:r>
              <a:rPr lang="en-US" sz="2800" dirty="0" err="1">
                <a:solidFill>
                  <a:srgbClr val="000000"/>
                </a:solidFill>
                <a:latin typeface="Forum"/>
                <a:ea typeface="Forum"/>
                <a:cs typeface="Forum"/>
                <a:sym typeface="Forum"/>
              </a:rPr>
              <a:t>projedeki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rolü</a:t>
            </a:r>
            <a:r>
              <a:rPr lang="en-US" sz="2800" dirty="0">
                <a:solidFill>
                  <a:srgbClr val="000000"/>
                </a:solidFill>
                <a:latin typeface="Forum"/>
                <a:ea typeface="Forum"/>
                <a:cs typeface="Forum"/>
                <a:sym typeface="Forum"/>
              </a:rPr>
              <a:t>:</a:t>
            </a:r>
          </a:p>
          <a:p>
            <a:pPr algn="l">
              <a:lnSpc>
                <a:spcPts val="3920"/>
              </a:lnSpc>
              <a:spcBef>
                <a:spcPct val="0"/>
              </a:spcBef>
            </a:pPr>
            <a:endParaRPr lang="en-US" sz="2800" dirty="0">
              <a:solidFill>
                <a:srgbClr val="000000"/>
              </a:solidFill>
              <a:latin typeface="Forum"/>
              <a:ea typeface="Forum"/>
              <a:cs typeface="Forum"/>
              <a:sym typeface="Forum"/>
            </a:endParaRPr>
          </a:p>
          <a:p>
            <a:pPr algn="l">
              <a:lnSpc>
                <a:spcPts val="3920"/>
              </a:lnSpc>
              <a:spcBef>
                <a:spcPct val="0"/>
              </a:spcBef>
            </a:pPr>
            <a:r>
              <a:rPr lang="en-US" sz="2800" dirty="0">
                <a:solidFill>
                  <a:srgbClr val="000000"/>
                </a:solidFill>
                <a:latin typeface="Forum"/>
                <a:ea typeface="Forum"/>
                <a:cs typeface="Forum"/>
                <a:sym typeface="Forum"/>
              </a:rPr>
              <a:t>SVM:</a:t>
            </a:r>
          </a:p>
          <a:p>
            <a:pPr algn="l">
              <a:lnSpc>
                <a:spcPts val="3920"/>
              </a:lnSpc>
              <a:spcBef>
                <a:spcPct val="0"/>
              </a:spcBef>
            </a:pP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tanıma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sisteminin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karar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verici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beyin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konumundadır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err="1">
                <a:solidFill>
                  <a:srgbClr val="000000"/>
                </a:solidFill>
                <a:latin typeface="Forum"/>
                <a:ea typeface="Forum"/>
                <a:cs typeface="Forum"/>
                <a:sym typeface="Forum"/>
              </a:rPr>
              <a:t>Embeddingler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arası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farkları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matematiksel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yorumlar</a:t>
            </a:r>
            <a:endParaRPr lang="en-US" sz="2800" dirty="0">
              <a:solidFill>
                <a:srgbClr val="000000"/>
              </a:solidFill>
              <a:latin typeface="Forum"/>
              <a:ea typeface="Forum"/>
              <a:cs typeface="Forum"/>
              <a:sym typeface="Forum"/>
            </a:endParaRPr>
          </a:p>
          <a:p>
            <a:pPr algn="l">
              <a:lnSpc>
                <a:spcPts val="3920"/>
              </a:lnSpc>
              <a:spcBef>
                <a:spcPct val="0"/>
              </a:spcBef>
            </a:pPr>
            <a:r>
              <a:rPr lang="en-US" sz="2800" dirty="0">
                <a:solidFill>
                  <a:srgbClr val="000000"/>
                </a:solidFill>
                <a:latin typeface="Forum"/>
                <a:ea typeface="Forum"/>
                <a:cs typeface="Forum"/>
                <a:sym typeface="Forum"/>
              </a:rPr>
              <a:t>En </a:t>
            </a:r>
            <a:r>
              <a:rPr lang="en-US" sz="2800" dirty="0" err="1">
                <a:solidFill>
                  <a:srgbClr val="000000"/>
                </a:solidFill>
                <a:latin typeface="Forum"/>
                <a:ea typeface="Forum"/>
                <a:cs typeface="Forum"/>
                <a:sym typeface="Forum"/>
              </a:rPr>
              <a:t>uygun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kişiyi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yüksek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doğrulukla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seçer</a:t>
            </a:r>
            <a:endParaRPr lang="en-US" sz="2800" dirty="0">
              <a:solidFill>
                <a:srgbClr val="000000"/>
              </a:solidFill>
              <a:latin typeface="Forum"/>
              <a:ea typeface="Forum"/>
              <a:cs typeface="Forum"/>
              <a:sym typeface="For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35397" y="962025"/>
            <a:ext cx="4520208"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Antonio"/>
                <a:ea typeface="Antonio"/>
                <a:cs typeface="Antonio"/>
                <a:sym typeface="Antonio"/>
              </a:rPr>
              <a:t>Performans Analizi ve Test : </a:t>
            </a:r>
          </a:p>
        </p:txBody>
      </p:sp>
      <p:sp>
        <p:nvSpPr>
          <p:cNvPr id="3" name="TextBox 3"/>
          <p:cNvSpPr txBox="1"/>
          <p:nvPr/>
        </p:nvSpPr>
        <p:spPr>
          <a:xfrm>
            <a:off x="1028700" y="2067242"/>
            <a:ext cx="12534900" cy="471924"/>
          </a:xfrm>
          <a:prstGeom prst="rect">
            <a:avLst/>
          </a:prstGeom>
        </p:spPr>
        <p:txBody>
          <a:bodyPr wrap="square" lIns="0" tIns="0" rIns="0" bIns="0" rtlCol="0" anchor="t">
            <a:spAutoFit/>
          </a:bodyPr>
          <a:lstStyle/>
          <a:p>
            <a:pPr marL="604523" lvl="1" indent="-302261" algn="ctr">
              <a:lnSpc>
                <a:spcPts val="3920"/>
              </a:lnSpc>
              <a:buFont typeface="Arial"/>
              <a:buChar char="•"/>
            </a:pPr>
            <a:r>
              <a:rPr lang="en-US" sz="2800" dirty="0">
                <a:solidFill>
                  <a:srgbClr val="000000"/>
                </a:solidFill>
                <a:latin typeface="Forum"/>
                <a:ea typeface="Forum"/>
                <a:cs typeface="Forum"/>
                <a:sym typeface="Forum"/>
              </a:rPr>
              <a:t> Model, </a:t>
            </a:r>
            <a:r>
              <a:rPr lang="en-US" sz="2800" dirty="0" err="1">
                <a:solidFill>
                  <a:srgbClr val="000000"/>
                </a:solidFill>
                <a:latin typeface="Forum"/>
                <a:ea typeface="Forum"/>
                <a:cs typeface="Forum"/>
                <a:sym typeface="Forum"/>
              </a:rPr>
              <a:t>daha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önce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hiç</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görmediği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football_stars_test</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seti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üzerinde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denenmiştir</a:t>
            </a:r>
            <a:r>
              <a:rPr lang="en-US" sz="2800" dirty="0">
                <a:solidFill>
                  <a:srgbClr val="000000"/>
                </a:solidFill>
                <a:latin typeface="Forum"/>
                <a:ea typeface="Forum"/>
                <a:cs typeface="Forum"/>
                <a:sym typeface="Forum"/>
              </a:rPr>
              <a:t>.</a:t>
            </a:r>
          </a:p>
        </p:txBody>
      </p:sp>
      <p:sp>
        <p:nvSpPr>
          <p:cNvPr id="4" name="TextBox 4"/>
          <p:cNvSpPr txBox="1"/>
          <p:nvPr/>
        </p:nvSpPr>
        <p:spPr>
          <a:xfrm>
            <a:off x="1028700" y="2823381"/>
            <a:ext cx="15049500" cy="2481580"/>
          </a:xfrm>
          <a:prstGeom prst="rect">
            <a:avLst/>
          </a:prstGeom>
        </p:spPr>
        <p:txBody>
          <a:bodyPr wrap="square" lIns="0" tIns="0" rIns="0" bIns="0" rtlCol="0" anchor="t">
            <a:spAutoFit/>
          </a:bodyPr>
          <a:lstStyle/>
          <a:p>
            <a:pPr algn="just">
              <a:lnSpc>
                <a:spcPts val="3920"/>
              </a:lnSpc>
              <a:spcBef>
                <a:spcPct val="0"/>
              </a:spcBef>
            </a:pPr>
            <a:r>
              <a:rPr lang="en-US" sz="2800" dirty="0" err="1">
                <a:solidFill>
                  <a:srgbClr val="000000"/>
                </a:solidFill>
                <a:latin typeface="Forum"/>
                <a:ea typeface="Forum"/>
                <a:cs typeface="Forum"/>
                <a:sym typeface="Forum"/>
              </a:rPr>
              <a:t>Başarı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Metrikleri</a:t>
            </a:r>
            <a:r>
              <a:rPr lang="en-US" sz="2800" dirty="0">
                <a:solidFill>
                  <a:srgbClr val="000000"/>
                </a:solidFill>
                <a:latin typeface="Forum"/>
                <a:ea typeface="Forum"/>
                <a:cs typeface="Forum"/>
                <a:sym typeface="Forum"/>
              </a:rPr>
              <a:t>:</a:t>
            </a:r>
          </a:p>
          <a:p>
            <a:pPr marL="604523" lvl="1" indent="-302261" algn="just">
              <a:lnSpc>
                <a:spcPts val="3920"/>
              </a:lnSpc>
              <a:buFont typeface="Arial"/>
              <a:buChar char="•"/>
            </a:pPr>
            <a:r>
              <a:rPr lang="en-US" sz="2800" dirty="0">
                <a:solidFill>
                  <a:srgbClr val="FF3131"/>
                </a:solidFill>
                <a:latin typeface="Forum"/>
                <a:ea typeface="Forum"/>
                <a:cs typeface="Forum"/>
                <a:sym typeface="Forum"/>
              </a:rPr>
              <a:t>Accuracy Score:</a:t>
            </a:r>
            <a:r>
              <a:rPr lang="en-US" sz="2800" dirty="0">
                <a:solidFill>
                  <a:srgbClr val="000000"/>
                </a:solidFill>
                <a:latin typeface="Forum"/>
                <a:ea typeface="Forum"/>
                <a:cs typeface="Forum"/>
                <a:sym typeface="Forum"/>
              </a:rPr>
              <a:t> Genel </a:t>
            </a:r>
            <a:r>
              <a:rPr lang="en-US" sz="2800" dirty="0" err="1">
                <a:solidFill>
                  <a:srgbClr val="000000"/>
                </a:solidFill>
                <a:latin typeface="Forum"/>
                <a:ea typeface="Forum"/>
                <a:cs typeface="Forum"/>
                <a:sym typeface="Forum"/>
              </a:rPr>
              <a:t>doğruluk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oranı</a:t>
            </a:r>
            <a:r>
              <a:rPr lang="en-US" sz="2800" dirty="0">
                <a:solidFill>
                  <a:srgbClr val="000000"/>
                </a:solidFill>
                <a:latin typeface="Forum"/>
                <a:ea typeface="Forum"/>
                <a:cs typeface="Forum"/>
                <a:sym typeface="Forum"/>
              </a:rPr>
              <a:t>.</a:t>
            </a:r>
          </a:p>
          <a:p>
            <a:pPr marL="604523" lvl="1" indent="-302261" algn="just">
              <a:lnSpc>
                <a:spcPts val="3920"/>
              </a:lnSpc>
              <a:buFont typeface="Arial"/>
              <a:buChar char="•"/>
            </a:pPr>
            <a:r>
              <a:rPr lang="en-US" sz="2800" dirty="0">
                <a:solidFill>
                  <a:srgbClr val="FF3131"/>
                </a:solidFill>
                <a:latin typeface="Forum"/>
                <a:ea typeface="Forum"/>
                <a:cs typeface="Forum"/>
                <a:sym typeface="Forum"/>
              </a:rPr>
              <a:t>Classification Report:</a:t>
            </a:r>
            <a:r>
              <a:rPr lang="en-US" sz="2800" dirty="0">
                <a:solidFill>
                  <a:srgbClr val="000000"/>
                </a:solidFill>
                <a:latin typeface="Forum"/>
                <a:ea typeface="Forum"/>
                <a:cs typeface="Forum"/>
                <a:sym typeface="Forum"/>
              </a:rPr>
              <a:t> Her </a:t>
            </a:r>
            <a:r>
              <a:rPr lang="en-US" sz="2800" dirty="0" err="1">
                <a:solidFill>
                  <a:srgbClr val="000000"/>
                </a:solidFill>
                <a:latin typeface="Forum"/>
                <a:ea typeface="Forum"/>
                <a:cs typeface="Forum"/>
                <a:sym typeface="Forum"/>
              </a:rPr>
              <a:t>futbolcu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ayrı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ayrı</a:t>
            </a:r>
            <a:r>
              <a:rPr lang="en-US" sz="2800" dirty="0">
                <a:solidFill>
                  <a:srgbClr val="000000"/>
                </a:solidFill>
                <a:latin typeface="Forum"/>
                <a:ea typeface="Forum"/>
                <a:cs typeface="Forum"/>
                <a:sym typeface="Forum"/>
              </a:rPr>
              <a:t> </a:t>
            </a:r>
            <a:r>
              <a:rPr lang="en-US" sz="2800" dirty="0" err="1">
                <a:solidFill>
                  <a:srgbClr val="FF3131"/>
                </a:solidFill>
                <a:latin typeface="Forum"/>
                <a:ea typeface="Forum"/>
                <a:cs typeface="Forum"/>
                <a:sym typeface="Forum"/>
              </a:rPr>
              <a:t>Hassasiyet</a:t>
            </a:r>
            <a:r>
              <a:rPr lang="en-US" sz="2800" dirty="0">
                <a:solidFill>
                  <a:srgbClr val="FF3131"/>
                </a:solidFill>
                <a:latin typeface="Forum"/>
                <a:ea typeface="Forum"/>
                <a:cs typeface="Forum"/>
                <a:sym typeface="Forum"/>
              </a:rPr>
              <a:t> (Precision)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FF3131"/>
                </a:solidFill>
                <a:latin typeface="Forum"/>
                <a:ea typeface="Forum"/>
                <a:cs typeface="Forum"/>
                <a:sym typeface="Forum"/>
              </a:rPr>
              <a:t>Duyarlılık</a:t>
            </a:r>
            <a:r>
              <a:rPr lang="en-US" sz="2800" dirty="0">
                <a:solidFill>
                  <a:srgbClr val="FF3131"/>
                </a:solidFill>
                <a:latin typeface="Forum"/>
                <a:ea typeface="Forum"/>
                <a:cs typeface="Forum"/>
                <a:sym typeface="Forum"/>
              </a:rPr>
              <a:t> (Recall)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değerleri</a:t>
            </a:r>
            <a:endParaRPr lang="en-US" sz="2800" dirty="0">
              <a:solidFill>
                <a:srgbClr val="000000"/>
              </a:solidFill>
              <a:latin typeface="Forum"/>
              <a:ea typeface="Forum"/>
              <a:cs typeface="Forum"/>
              <a:sym typeface="Forum"/>
            </a:endParaRPr>
          </a:p>
          <a:p>
            <a:pPr algn="just">
              <a:lnSpc>
                <a:spcPts val="3920"/>
              </a:lnSpc>
            </a:pP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analiz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edilmiştir</a:t>
            </a:r>
            <a:r>
              <a:rPr lang="en-US" sz="2800" dirty="0">
                <a:solidFill>
                  <a:srgbClr val="000000"/>
                </a:solidFill>
                <a:latin typeface="Forum"/>
                <a:ea typeface="Forum"/>
                <a:cs typeface="Forum"/>
                <a:sym typeface="Forum"/>
              </a:rPr>
              <a:t>.</a:t>
            </a:r>
          </a:p>
          <a:p>
            <a:pPr algn="just">
              <a:lnSpc>
                <a:spcPts val="3920"/>
              </a:lnSpc>
              <a:spcBef>
                <a:spcPct val="0"/>
              </a:spcBef>
            </a:pPr>
            <a:endParaRPr lang="en-US" sz="2800" dirty="0">
              <a:solidFill>
                <a:srgbClr val="000000"/>
              </a:solidFill>
              <a:latin typeface="Forum"/>
              <a:ea typeface="Forum"/>
              <a:cs typeface="Forum"/>
              <a:sym typeface="Forum"/>
            </a:endParaRPr>
          </a:p>
        </p:txBody>
      </p:sp>
      <p:sp>
        <p:nvSpPr>
          <p:cNvPr id="5" name="TextBox 5"/>
          <p:cNvSpPr txBox="1"/>
          <p:nvPr/>
        </p:nvSpPr>
        <p:spPr>
          <a:xfrm>
            <a:off x="1028700" y="5228761"/>
            <a:ext cx="15846623" cy="1490980"/>
          </a:xfrm>
          <a:prstGeom prst="rect">
            <a:avLst/>
          </a:prstGeom>
        </p:spPr>
        <p:txBody>
          <a:bodyPr lIns="0" tIns="0" rIns="0" bIns="0" rtlCol="0" anchor="t">
            <a:spAutoFit/>
          </a:bodyPr>
          <a:lstStyle/>
          <a:p>
            <a:pPr algn="l">
              <a:lnSpc>
                <a:spcPts val="3920"/>
              </a:lnSpc>
              <a:spcBef>
                <a:spcPct val="0"/>
              </a:spcBef>
            </a:pPr>
            <a:r>
              <a:rPr lang="en-US" sz="2800" dirty="0" err="1">
                <a:solidFill>
                  <a:srgbClr val="000000"/>
                </a:solidFill>
                <a:latin typeface="Forum"/>
                <a:ea typeface="Forum"/>
                <a:cs typeface="Forum"/>
                <a:sym typeface="Forum"/>
              </a:rPr>
              <a:t>Simülasyon</a:t>
            </a:r>
            <a:r>
              <a:rPr lang="en-US" sz="2800" dirty="0">
                <a:solidFill>
                  <a:srgbClr val="000000"/>
                </a:solidFill>
                <a:latin typeface="Forum"/>
                <a:ea typeface="Forum"/>
                <a:cs typeface="Forum"/>
                <a:sym typeface="Forum"/>
              </a:rPr>
              <a:t> :</a:t>
            </a:r>
          </a:p>
          <a:p>
            <a:pPr marL="604523" lvl="1" indent="-302261" algn="l">
              <a:lnSpc>
                <a:spcPts val="3920"/>
              </a:lnSpc>
              <a:spcBef>
                <a:spcPct val="0"/>
              </a:spcBef>
              <a:buFont typeface="Arial"/>
              <a:buChar char="•"/>
            </a:pPr>
            <a:r>
              <a:rPr lang="en-US" sz="2800" dirty="0" err="1">
                <a:solidFill>
                  <a:srgbClr val="000000"/>
                </a:solidFill>
                <a:latin typeface="Forum"/>
                <a:ea typeface="Forum"/>
                <a:cs typeface="Forum"/>
                <a:sym typeface="Forum"/>
              </a:rPr>
              <a:t>Sistem</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fotoğraf</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verildiğinde</a:t>
            </a:r>
            <a:r>
              <a:rPr lang="en-US" sz="2800" dirty="0">
                <a:solidFill>
                  <a:srgbClr val="000000"/>
                </a:solidFill>
                <a:latin typeface="Forum"/>
                <a:ea typeface="Forum"/>
                <a:cs typeface="Forum"/>
                <a:sym typeface="Forum"/>
              </a:rPr>
              <a:t> (Örn: antony.jpg) </a:t>
            </a:r>
            <a:r>
              <a:rPr lang="en-US" sz="2800" dirty="0" err="1">
                <a:solidFill>
                  <a:srgbClr val="000000"/>
                </a:solidFill>
                <a:latin typeface="Forum"/>
                <a:ea typeface="Forum"/>
                <a:cs typeface="Forum"/>
                <a:sym typeface="Forum"/>
              </a:rPr>
              <a:t>yüzü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bulur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veritabanıyla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eşleştirir</a:t>
            </a:r>
            <a:r>
              <a:rPr lang="en-US" sz="2800" dirty="0">
                <a:solidFill>
                  <a:srgbClr val="000000"/>
                </a:solidFill>
                <a:latin typeface="Forum"/>
                <a:ea typeface="Forum"/>
                <a:cs typeface="Forum"/>
                <a:sym typeface="Forum"/>
              </a:rPr>
              <a:t>.</a:t>
            </a:r>
          </a:p>
          <a:p>
            <a:pPr marL="604523" lvl="1" indent="-302261" algn="l">
              <a:lnSpc>
                <a:spcPts val="3920"/>
              </a:lnSpc>
              <a:buFont typeface="Arial"/>
              <a:buChar char="•"/>
            </a:pPr>
            <a:r>
              <a:rPr lang="en-US" sz="2800" dirty="0" err="1">
                <a:solidFill>
                  <a:srgbClr val="000000"/>
                </a:solidFill>
                <a:latin typeface="Forum"/>
                <a:ea typeface="Forum"/>
                <a:cs typeface="Forum"/>
                <a:sym typeface="Forum"/>
              </a:rPr>
              <a:t>Eğer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eşleşme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olasılığı</a:t>
            </a:r>
            <a:r>
              <a:rPr lang="en-US" sz="2800" dirty="0">
                <a:solidFill>
                  <a:srgbClr val="000000"/>
                </a:solidFill>
                <a:latin typeface="Forum"/>
                <a:ea typeface="Forum"/>
                <a:cs typeface="Forum"/>
                <a:sym typeface="Forum"/>
              </a:rPr>
              <a:t> 0.20 (%20) </a:t>
            </a:r>
            <a:r>
              <a:rPr lang="en-US" sz="2800" dirty="0" err="1">
                <a:solidFill>
                  <a:srgbClr val="000000"/>
                </a:solidFill>
                <a:latin typeface="Forum"/>
                <a:ea typeface="Forum"/>
                <a:cs typeface="Forum"/>
                <a:sym typeface="Forum"/>
              </a:rPr>
              <a:t>altındaysa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sistem</a:t>
            </a:r>
            <a:r>
              <a:rPr lang="en-US" sz="2800" dirty="0">
                <a:solidFill>
                  <a:srgbClr val="000000"/>
                </a:solidFill>
                <a:latin typeface="Forum"/>
                <a:ea typeface="Forum"/>
                <a:cs typeface="Forum"/>
                <a:sym typeface="Forum"/>
              </a:rPr>
              <a:t> risk </a:t>
            </a:r>
            <a:r>
              <a:rPr lang="en-US" sz="2800" dirty="0" err="1">
                <a:solidFill>
                  <a:srgbClr val="000000"/>
                </a:solidFill>
                <a:latin typeface="Forum"/>
                <a:ea typeface="Forum"/>
                <a:cs typeface="Forum"/>
                <a:sym typeface="Forum"/>
              </a:rPr>
              <a:t>almaz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kişiyi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Bilinmeyen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olarak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işaretler</a:t>
            </a:r>
            <a:r>
              <a:rPr lang="en-US" sz="2800" dirty="0">
                <a:solidFill>
                  <a:srgbClr val="000000"/>
                </a:solidFill>
                <a:latin typeface="Forum"/>
                <a:ea typeface="Forum"/>
                <a:cs typeface="Forum"/>
                <a:sym typeface="Forum"/>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491068" y="1285558"/>
            <a:ext cx="4768232" cy="3557680"/>
          </a:xfrm>
          <a:custGeom>
            <a:avLst/>
            <a:gdLst/>
            <a:ahLst/>
            <a:cxnLst/>
            <a:rect l="l" t="t" r="r" b="b"/>
            <a:pathLst>
              <a:path w="4768232" h="3557680">
                <a:moveTo>
                  <a:pt x="0" y="0"/>
                </a:moveTo>
                <a:lnTo>
                  <a:pt x="4768232" y="0"/>
                </a:lnTo>
                <a:lnTo>
                  <a:pt x="4768232" y="3557679"/>
                </a:lnTo>
                <a:lnTo>
                  <a:pt x="0" y="3557679"/>
                </a:lnTo>
                <a:lnTo>
                  <a:pt x="0" y="0"/>
                </a:lnTo>
                <a:close/>
              </a:path>
            </a:pathLst>
          </a:custGeom>
          <a:blipFill>
            <a:blip r:embed="rId2"/>
            <a:stretch>
              <a:fillRect/>
            </a:stretch>
          </a:blipFill>
        </p:spPr>
        <p:txBody>
          <a:bodyPr/>
          <a:lstStyle/>
          <a:p>
            <a:endParaRPr lang="tr-TR"/>
          </a:p>
        </p:txBody>
      </p:sp>
      <p:sp>
        <p:nvSpPr>
          <p:cNvPr id="3" name="Freeform 3"/>
          <p:cNvSpPr/>
          <p:nvPr/>
        </p:nvSpPr>
        <p:spPr>
          <a:xfrm>
            <a:off x="10947226" y="5982535"/>
            <a:ext cx="6312074" cy="3275765"/>
          </a:xfrm>
          <a:custGeom>
            <a:avLst/>
            <a:gdLst/>
            <a:ahLst/>
            <a:cxnLst/>
            <a:rect l="l" t="t" r="r" b="b"/>
            <a:pathLst>
              <a:path w="6312074" h="3275765">
                <a:moveTo>
                  <a:pt x="0" y="0"/>
                </a:moveTo>
                <a:lnTo>
                  <a:pt x="6312074" y="0"/>
                </a:lnTo>
                <a:lnTo>
                  <a:pt x="6312074" y="3275765"/>
                </a:lnTo>
                <a:lnTo>
                  <a:pt x="0" y="3275765"/>
                </a:lnTo>
                <a:lnTo>
                  <a:pt x="0" y="0"/>
                </a:lnTo>
                <a:close/>
              </a:path>
            </a:pathLst>
          </a:custGeom>
          <a:blipFill>
            <a:blip r:embed="rId3"/>
            <a:stretch>
              <a:fillRect/>
            </a:stretch>
          </a:blipFill>
        </p:spPr>
        <p:txBody>
          <a:bodyPr/>
          <a:lstStyle/>
          <a:p>
            <a:endParaRPr lang="tr-TR"/>
          </a:p>
        </p:txBody>
      </p:sp>
      <p:sp>
        <p:nvSpPr>
          <p:cNvPr id="4" name="TextBox 4"/>
          <p:cNvSpPr txBox="1"/>
          <p:nvPr/>
        </p:nvSpPr>
        <p:spPr>
          <a:xfrm>
            <a:off x="917228" y="962025"/>
            <a:ext cx="4188172" cy="580390"/>
          </a:xfrm>
          <a:prstGeom prst="rect">
            <a:avLst/>
          </a:prstGeom>
        </p:spPr>
        <p:txBody>
          <a:bodyPr wrap="square" lIns="0" tIns="0" rIns="0" bIns="0" rtlCol="0" anchor="t">
            <a:spAutoFit/>
          </a:bodyPr>
          <a:lstStyle/>
          <a:p>
            <a:pPr algn="ctr">
              <a:lnSpc>
                <a:spcPts val="4759"/>
              </a:lnSpc>
              <a:spcBef>
                <a:spcPct val="0"/>
              </a:spcBef>
            </a:pPr>
            <a:r>
              <a:rPr lang="en-US" sz="3399" dirty="0" err="1">
                <a:solidFill>
                  <a:srgbClr val="000000"/>
                </a:solidFill>
                <a:latin typeface="Antonio"/>
                <a:ea typeface="Antonio"/>
                <a:cs typeface="Antonio"/>
                <a:sym typeface="Antonio"/>
              </a:rPr>
              <a:t>Sonuç</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ve</a:t>
            </a:r>
            <a:r>
              <a:rPr lang="en-US" sz="3399" dirty="0">
                <a:solidFill>
                  <a:srgbClr val="000000"/>
                </a:solidFill>
                <a:latin typeface="Antonio"/>
                <a:ea typeface="Antonio"/>
                <a:cs typeface="Antonio"/>
                <a:sym typeface="Antonio"/>
              </a:rPr>
              <a:t> </a:t>
            </a:r>
            <a:r>
              <a:rPr lang="en-US" sz="3399" dirty="0" err="1">
                <a:solidFill>
                  <a:srgbClr val="000000"/>
                </a:solidFill>
                <a:latin typeface="Antonio"/>
                <a:ea typeface="Antonio"/>
                <a:cs typeface="Antonio"/>
                <a:sym typeface="Antonio"/>
              </a:rPr>
              <a:t>Görselleştirme</a:t>
            </a:r>
            <a:r>
              <a:rPr lang="en-US" sz="3399" dirty="0">
                <a:solidFill>
                  <a:srgbClr val="000000"/>
                </a:solidFill>
                <a:latin typeface="Antonio"/>
                <a:ea typeface="Antonio"/>
                <a:cs typeface="Antonio"/>
                <a:sym typeface="Antonio"/>
              </a:rPr>
              <a:t> :</a:t>
            </a:r>
          </a:p>
        </p:txBody>
      </p:sp>
      <p:sp>
        <p:nvSpPr>
          <p:cNvPr id="5" name="TextBox 5"/>
          <p:cNvSpPr txBox="1"/>
          <p:nvPr/>
        </p:nvSpPr>
        <p:spPr>
          <a:xfrm>
            <a:off x="917228" y="2033158"/>
            <a:ext cx="9646278" cy="1986280"/>
          </a:xfrm>
          <a:prstGeom prst="rect">
            <a:avLst/>
          </a:prstGeom>
        </p:spPr>
        <p:txBody>
          <a:bodyPr wrap="square" lIns="0" tIns="0" rIns="0" bIns="0" rtlCol="0" anchor="t">
            <a:spAutoFit/>
          </a:bodyPr>
          <a:lstStyle/>
          <a:p>
            <a:pPr algn="just">
              <a:lnSpc>
                <a:spcPts val="3920"/>
              </a:lnSpc>
              <a:spcBef>
                <a:spcPct val="0"/>
              </a:spcBef>
            </a:pPr>
            <a:r>
              <a:rPr lang="en-US" sz="2800" dirty="0" err="1">
                <a:solidFill>
                  <a:srgbClr val="000000"/>
                </a:solidFill>
                <a:latin typeface="Forum"/>
                <a:ea typeface="Forum"/>
                <a:cs typeface="Forum"/>
                <a:sym typeface="Forum"/>
              </a:rPr>
              <a:t>Çıktı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Örneği</a:t>
            </a:r>
            <a:r>
              <a:rPr lang="en-US" sz="2800" dirty="0">
                <a:solidFill>
                  <a:srgbClr val="000000"/>
                </a:solidFill>
                <a:latin typeface="Forum"/>
                <a:ea typeface="Forum"/>
                <a:cs typeface="Forum"/>
                <a:sym typeface="Forum"/>
              </a:rPr>
              <a:t>:</a:t>
            </a:r>
          </a:p>
          <a:p>
            <a:pPr marL="604523" lvl="1" indent="-302261" algn="just">
              <a:lnSpc>
                <a:spcPts val="3920"/>
              </a:lnSpc>
              <a:buFont typeface="Arial"/>
              <a:buChar char="•"/>
            </a:pP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İşlenmiş</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görüntü</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üzerinde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yeşil</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kutucuk</a:t>
            </a:r>
            <a:r>
              <a:rPr lang="en-US" sz="2800" dirty="0">
                <a:solidFill>
                  <a:srgbClr val="000000"/>
                </a:solidFill>
                <a:latin typeface="Forum"/>
                <a:ea typeface="Forum"/>
                <a:cs typeface="Forum"/>
                <a:sym typeface="Forum"/>
              </a:rPr>
              <a:t> (Bounding Box) </a:t>
            </a:r>
            <a:r>
              <a:rPr lang="en-US" sz="2800" dirty="0" err="1">
                <a:solidFill>
                  <a:srgbClr val="000000"/>
                </a:solidFill>
                <a:latin typeface="Forum"/>
                <a:ea typeface="Forum"/>
                <a:cs typeface="Forum"/>
                <a:sym typeface="Forum"/>
              </a:rPr>
              <a:t>içerisinde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oyuncunun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ismi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modelin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güven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oranı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yazdırılır</a:t>
            </a:r>
            <a:endParaRPr lang="en-US" sz="2800" dirty="0">
              <a:solidFill>
                <a:srgbClr val="000000"/>
              </a:solidFill>
              <a:latin typeface="Forum"/>
              <a:ea typeface="Forum"/>
              <a:cs typeface="Forum"/>
              <a:sym typeface="Forum"/>
            </a:endParaRPr>
          </a:p>
          <a:p>
            <a:pPr algn="just">
              <a:lnSpc>
                <a:spcPts val="3920"/>
              </a:lnSpc>
              <a:spcBef>
                <a:spcPct val="0"/>
              </a:spcBef>
            </a:pPr>
            <a:r>
              <a:rPr lang="en-US" sz="2800" dirty="0">
                <a:solidFill>
                  <a:srgbClr val="000000"/>
                </a:solidFill>
                <a:latin typeface="Forum"/>
                <a:ea typeface="Forum"/>
                <a:cs typeface="Forum"/>
                <a:sym typeface="Forum"/>
              </a:rPr>
              <a:t>      (Örn: Antony 0.29) </a:t>
            </a:r>
          </a:p>
        </p:txBody>
      </p:sp>
      <p:sp>
        <p:nvSpPr>
          <p:cNvPr id="6" name="TextBox 6"/>
          <p:cNvSpPr txBox="1"/>
          <p:nvPr/>
        </p:nvSpPr>
        <p:spPr>
          <a:xfrm>
            <a:off x="688611" y="4767037"/>
            <a:ext cx="9874895" cy="2481580"/>
          </a:xfrm>
          <a:prstGeom prst="rect">
            <a:avLst/>
          </a:prstGeom>
        </p:spPr>
        <p:txBody>
          <a:bodyPr lIns="0" tIns="0" rIns="0" bIns="0" rtlCol="0" anchor="t">
            <a:spAutoFit/>
          </a:bodyPr>
          <a:lstStyle/>
          <a:p>
            <a:pPr algn="just">
              <a:lnSpc>
                <a:spcPts val="3920"/>
              </a:lnSpc>
              <a:spcBef>
                <a:spcPct val="0"/>
              </a:spcBef>
            </a:pPr>
            <a:r>
              <a:rPr lang="en-US" sz="2800" dirty="0" err="1">
                <a:solidFill>
                  <a:srgbClr val="000000"/>
                </a:solidFill>
                <a:latin typeface="Forum"/>
                <a:ea typeface="Forum"/>
                <a:cs typeface="Forum"/>
                <a:sym typeface="Forum"/>
              </a:rPr>
              <a:t>Kazanımlarımız</a:t>
            </a:r>
            <a:r>
              <a:rPr lang="en-US" sz="2800" dirty="0">
                <a:solidFill>
                  <a:srgbClr val="000000"/>
                </a:solidFill>
                <a:latin typeface="Forum"/>
                <a:ea typeface="Forum"/>
                <a:cs typeface="Forum"/>
                <a:sym typeface="Forum"/>
              </a:rPr>
              <a:t>:</a:t>
            </a:r>
          </a:p>
          <a:p>
            <a:pPr marL="604523" lvl="1" indent="-302261" algn="just">
              <a:lnSpc>
                <a:spcPts val="3920"/>
              </a:lnSpc>
              <a:spcBef>
                <a:spcPct val="0"/>
              </a:spcBef>
              <a:buFont typeface="Arial"/>
              <a:buChar char="•"/>
            </a:pPr>
            <a:r>
              <a:rPr lang="en-US" sz="2800" dirty="0">
                <a:solidFill>
                  <a:srgbClr val="000000"/>
                </a:solidFill>
                <a:latin typeface="Forum"/>
                <a:ea typeface="Forum"/>
                <a:cs typeface="Forum"/>
                <a:sym typeface="Forum"/>
              </a:rPr>
              <a:t>Manuel </a:t>
            </a:r>
            <a:r>
              <a:rPr lang="en-US" sz="2800" dirty="0" err="1">
                <a:solidFill>
                  <a:srgbClr val="000000"/>
                </a:solidFill>
                <a:latin typeface="Forum"/>
                <a:ea typeface="Forum"/>
                <a:cs typeface="Forum"/>
                <a:sym typeface="Forum"/>
              </a:rPr>
              <a:t>etiketlemeye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göre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çok</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daha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hızlı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işlem</a:t>
            </a:r>
            <a:r>
              <a:rPr lang="en-US" sz="2800" dirty="0">
                <a:solidFill>
                  <a:srgbClr val="000000"/>
                </a:solidFill>
                <a:latin typeface="Forum"/>
                <a:ea typeface="Forum"/>
                <a:cs typeface="Forum"/>
                <a:sym typeface="Forum"/>
              </a:rPr>
              <a:t>.</a:t>
            </a:r>
          </a:p>
          <a:p>
            <a:pPr marL="604523" lvl="1" indent="-302261" algn="just">
              <a:lnSpc>
                <a:spcPts val="3920"/>
              </a:lnSpc>
              <a:spcBef>
                <a:spcPct val="0"/>
              </a:spcBef>
              <a:buFont typeface="Arial"/>
              <a:buChar char="•"/>
            </a:pPr>
            <a:r>
              <a:rPr lang="en-US" sz="2800" dirty="0" err="1">
                <a:solidFill>
                  <a:srgbClr val="000000"/>
                </a:solidFill>
                <a:latin typeface="Forum"/>
                <a:ea typeface="Forum"/>
                <a:cs typeface="Forum"/>
                <a:sym typeface="Forum"/>
              </a:rPr>
              <a:t>Göz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tespiti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filtresi</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sayesinde</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hatalı</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yüz</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bulma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oranının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düşürdük</a:t>
            </a:r>
            <a:r>
              <a:rPr lang="en-US" sz="2800" dirty="0">
                <a:solidFill>
                  <a:srgbClr val="000000"/>
                </a:solidFill>
                <a:latin typeface="Forum"/>
                <a:ea typeface="Forum"/>
                <a:cs typeface="Forum"/>
                <a:sym typeface="Forum"/>
              </a:rPr>
              <a:t>.</a:t>
            </a:r>
          </a:p>
          <a:p>
            <a:pPr marL="604523" lvl="1" indent="-302261" algn="just">
              <a:lnSpc>
                <a:spcPts val="3920"/>
              </a:lnSpc>
              <a:spcBef>
                <a:spcPct val="0"/>
              </a:spcBef>
              <a:buFont typeface="Arial"/>
              <a:buChar char="•"/>
            </a:pPr>
            <a:r>
              <a:rPr lang="en-US" sz="2800" dirty="0" err="1">
                <a:solidFill>
                  <a:srgbClr val="000000"/>
                </a:solidFill>
                <a:latin typeface="Forum"/>
                <a:ea typeface="Forum"/>
                <a:cs typeface="Forum"/>
                <a:sym typeface="Forum"/>
              </a:rPr>
              <a:t>Ölçeklenebilir</a:t>
            </a:r>
            <a:r>
              <a:rPr lang="en-US" sz="2800" dirty="0">
                <a:solidFill>
                  <a:srgbClr val="000000"/>
                </a:solidFill>
                <a:latin typeface="Forum"/>
                <a:ea typeface="Forum"/>
                <a:cs typeface="Forum"/>
                <a:sym typeface="Forum"/>
              </a:rPr>
              <a:t> (yeni </a:t>
            </a:r>
            <a:r>
              <a:rPr lang="en-US" sz="2800" dirty="0" err="1">
                <a:solidFill>
                  <a:srgbClr val="000000"/>
                </a:solidFill>
                <a:latin typeface="Forum"/>
                <a:ea typeface="Forum"/>
                <a:cs typeface="Forum"/>
                <a:sym typeface="Forum"/>
              </a:rPr>
              <a:t>futbolcu</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veya</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kişiler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için</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eklenebilir</a:t>
            </a:r>
            <a:r>
              <a:rPr lang="en-US" sz="2800" dirty="0">
                <a:solidFill>
                  <a:srgbClr val="000000"/>
                </a:solidFill>
                <a:latin typeface="Forum"/>
                <a:ea typeface="Forum"/>
                <a:cs typeface="Forum"/>
                <a:sym typeface="Forum"/>
              </a:rPr>
              <a:t>) </a:t>
            </a:r>
            <a:r>
              <a:rPr lang="en-US" sz="2800" dirty="0" err="1">
                <a:solidFill>
                  <a:srgbClr val="000000"/>
                </a:solidFill>
                <a:latin typeface="Forum"/>
                <a:ea typeface="Forum"/>
                <a:cs typeface="Forum"/>
                <a:sym typeface="Forum"/>
              </a:rPr>
              <a:t>yapı</a:t>
            </a:r>
            <a:r>
              <a:rPr lang="en-US" sz="2800" dirty="0">
                <a:solidFill>
                  <a:srgbClr val="000000"/>
                </a:solidFill>
                <a:latin typeface="Forum"/>
                <a:ea typeface="Forum"/>
                <a:cs typeface="Forum"/>
                <a:sym typeface="Forum"/>
              </a:rPr>
              <a:t>.</a:t>
            </a:r>
          </a:p>
          <a:p>
            <a:pPr algn="just">
              <a:lnSpc>
                <a:spcPts val="3920"/>
              </a:lnSpc>
              <a:spcBef>
                <a:spcPct val="0"/>
              </a:spcBef>
            </a:pPr>
            <a:endParaRPr lang="en-US" sz="2800" dirty="0">
              <a:solidFill>
                <a:srgbClr val="000000"/>
              </a:solidFill>
              <a:latin typeface="Forum"/>
              <a:ea typeface="Forum"/>
              <a:cs typeface="Forum"/>
              <a:sym typeface="Forum"/>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1661</Words>
  <Application>Microsoft Office PowerPoint</Application>
  <PresentationFormat>Özel</PresentationFormat>
  <Paragraphs>212</Paragraphs>
  <Slides>18</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18</vt:i4>
      </vt:variant>
    </vt:vector>
  </HeadingPairs>
  <TitlesOfParts>
    <vt:vector size="23" baseType="lpstr">
      <vt:lpstr>Arial</vt:lpstr>
      <vt:lpstr>Forum</vt:lpstr>
      <vt:lpstr>Calibri</vt:lpstr>
      <vt:lpstr>Antonio</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Yapay Zeka ve Veri Mühendisliği Dersin adı : İşletim Sistemi Teknolojileri Porje Konusu : Senkronizasyon ve Kilitleme Mekanizmaları</dc:title>
  <cp:lastModifiedBy>YIGIT OZER</cp:lastModifiedBy>
  <cp:revision>17</cp:revision>
  <dcterms:created xsi:type="dcterms:W3CDTF">2006-08-16T00:00:00Z</dcterms:created>
  <dcterms:modified xsi:type="dcterms:W3CDTF">2025-12-27T11:29:51Z</dcterms:modified>
  <dc:identifier>DAG8QApCD28</dc:identifier>
</cp:coreProperties>
</file>