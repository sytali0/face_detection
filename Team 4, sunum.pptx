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ntonio" panose="020B0604020202020204" charset="-94"/>
      <p:regular r:id="rId10"/>
    </p:embeddedFont>
    <p:embeddedFont>
      <p:font typeface="Forum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8315" y="1510284"/>
            <a:ext cx="2160989" cy="2160989"/>
          </a:xfrm>
          <a:custGeom>
            <a:avLst/>
            <a:gdLst/>
            <a:ahLst/>
            <a:cxnLst/>
            <a:rect l="l" t="t" r="r" b="b"/>
            <a:pathLst>
              <a:path w="2160989" h="2160989">
                <a:moveTo>
                  <a:pt x="0" y="0"/>
                </a:moveTo>
                <a:lnTo>
                  <a:pt x="2160990" y="0"/>
                </a:lnTo>
                <a:lnTo>
                  <a:pt x="2160990" y="2160990"/>
                </a:lnTo>
                <a:lnTo>
                  <a:pt x="0" y="21609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TextBox 3"/>
          <p:cNvSpPr txBox="1"/>
          <p:nvPr/>
        </p:nvSpPr>
        <p:spPr>
          <a:xfrm>
            <a:off x="1028700" y="3604599"/>
            <a:ext cx="341888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Atatürk Üniversitesi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22767" y="2584789"/>
            <a:ext cx="11457602" cy="160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Yapay Zeka ve Veri Mühendisliği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Dersin Adı: Denetimli Öğrenmenin Temelleri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Proje: Biyometrik Güvenlik ve Kimlikleme: Futbolcu Yüz Tanıma Sistemi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7124700"/>
            <a:ext cx="4713387" cy="213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Proje katılımcıları : 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Yiğit Görkem Özer #240711006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Ahmet Kurt #240711008 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Seyit Ali Arslan #240711024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62025"/>
            <a:ext cx="4686300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 err="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Projenin</a:t>
            </a:r>
            <a:r>
              <a:rPr lang="en-US" sz="3399" dirty="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kapsamı</a:t>
            </a:r>
            <a:r>
              <a:rPr lang="en-US" sz="3399" dirty="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ve</a:t>
            </a:r>
            <a:r>
              <a:rPr lang="en-US" sz="3399" dirty="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hedefi</a:t>
            </a:r>
            <a:r>
              <a:rPr lang="en-US" sz="3399" dirty="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715550"/>
            <a:ext cx="15887700" cy="4719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Karmaşık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arka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plana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sahip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görüntülerde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modelde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eğitilen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kişilerin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yüksek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doğruluk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oranıyla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tespit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edilebilmesi</a:t>
            </a:r>
            <a:endParaRPr lang="en-US" sz="2800" dirty="0">
              <a:solidFill>
                <a:srgbClr val="000000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2621891"/>
            <a:ext cx="3314700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 err="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Nasıl</a:t>
            </a:r>
            <a:r>
              <a:rPr lang="en-US" sz="3399" dirty="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tespit</a:t>
            </a:r>
            <a:r>
              <a:rPr lang="en-US" sz="3399" dirty="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ediliyor</a:t>
            </a:r>
            <a:r>
              <a:rPr lang="en-US" sz="3399" dirty="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373731"/>
            <a:ext cx="17234297" cy="995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Geleneksel görüntü işleme (OpenCV) ile modern makine öğrenmesi (Destek Vektör Makinesi) tekniklerinin birleştirerek 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bir model oluşturmayı hedefledik.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4778985"/>
            <a:ext cx="2476500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Temel </a:t>
            </a:r>
            <a:r>
              <a:rPr lang="en-US" sz="3399" dirty="0" err="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Mantığı</a:t>
            </a:r>
            <a:r>
              <a:rPr lang="en-US" sz="3399" dirty="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5530825"/>
            <a:ext cx="15735300" cy="995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Verilen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bir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fotoğrafta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yüzü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otomatik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olarak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algılayıp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, %20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güven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eşiğini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geçiyorsa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isim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tahmininde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bulunuyor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. 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Eğer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bu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eşiği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geçemediyse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(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yani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öğrendiği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kimseye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benzetemediyse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) “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bilinmeyen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”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olarak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çıktı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veriyor</a:t>
            </a:r>
            <a:endParaRPr lang="en-US" sz="2800" dirty="0">
              <a:solidFill>
                <a:srgbClr val="000000"/>
              </a:solidFill>
              <a:latin typeface="Forum"/>
              <a:ea typeface="Forum"/>
              <a:cs typeface="Forum"/>
              <a:sym typeface="For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999469"/>
            <a:ext cx="7256341" cy="1664048"/>
          </a:xfrm>
          <a:custGeom>
            <a:avLst/>
            <a:gdLst/>
            <a:ahLst/>
            <a:cxnLst/>
            <a:rect l="l" t="t" r="r" b="b"/>
            <a:pathLst>
              <a:path w="7256341" h="1664048">
                <a:moveTo>
                  <a:pt x="0" y="0"/>
                </a:moveTo>
                <a:lnTo>
                  <a:pt x="7256341" y="0"/>
                </a:lnTo>
                <a:lnTo>
                  <a:pt x="7256341" y="1664048"/>
                </a:lnTo>
                <a:lnTo>
                  <a:pt x="0" y="16640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TextBox 3"/>
          <p:cNvSpPr txBox="1"/>
          <p:nvPr/>
        </p:nvSpPr>
        <p:spPr>
          <a:xfrm>
            <a:off x="1028700" y="962025"/>
            <a:ext cx="9867900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 err="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Proje</a:t>
            </a:r>
            <a:r>
              <a:rPr lang="en-US" sz="3399" dirty="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yapımında</a:t>
            </a:r>
            <a:r>
              <a:rPr lang="en-US" sz="3399" dirty="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hangi </a:t>
            </a:r>
            <a:r>
              <a:rPr lang="en-US" sz="3399" dirty="0" err="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kütüphaneleri</a:t>
            </a:r>
            <a:r>
              <a:rPr lang="en-US" sz="3399" dirty="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ne </a:t>
            </a:r>
            <a:r>
              <a:rPr lang="en-US" sz="3399" dirty="0" err="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amaçla</a:t>
            </a:r>
            <a:r>
              <a:rPr lang="en-US" sz="3399" dirty="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kullandık</a:t>
            </a:r>
            <a:r>
              <a:rPr lang="en-US" sz="3399" dirty="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? 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044517"/>
            <a:ext cx="7834839" cy="995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OS : İşletim sistemiyle iletişim kurmamıza yaradı. (Dosyadan resimleri alıp kaydetme vb...)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5231921"/>
            <a:ext cx="8824077" cy="995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Numpy : yüzlerden elde edilecek olan öznitelik vektörlerinde işlem yapmak ve bunu depolamak için kullanıldı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6418101"/>
            <a:ext cx="9134624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OpenCV : Görüntüyü alıp işleyip, yüzü belirlemek için kullanıldı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7108981"/>
            <a:ext cx="9720308" cy="1472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20"/>
              </a:lnSpc>
            </a:pP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Face_recognition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: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Projenin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beyni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diyebiliriz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. </a:t>
            </a:r>
          </a:p>
          <a:p>
            <a:pPr algn="just">
              <a:lnSpc>
                <a:spcPts val="3920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Kırpılan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yüzü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alıp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bu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yüzü</a:t>
            </a:r>
            <a:r>
              <a:rPr lang="tr-TR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benzersiz şekilde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şifreler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.</a:t>
            </a:r>
            <a:endParaRPr lang="tr-TR" sz="2800" dirty="0">
              <a:solidFill>
                <a:srgbClr val="000000"/>
              </a:solidFill>
              <a:latin typeface="Forum"/>
              <a:ea typeface="Forum"/>
              <a:cs typeface="Forum"/>
              <a:sym typeface="Forum"/>
            </a:endParaRPr>
          </a:p>
          <a:p>
            <a:pPr algn="just">
              <a:lnSpc>
                <a:spcPts val="3920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(Tek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başına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bir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ordu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514009" y="1942319"/>
            <a:ext cx="7562976" cy="7763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dirty="0" err="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Sklearn</a:t>
            </a:r>
            <a:r>
              <a:rPr lang="tr-TR" sz="2600" dirty="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’</a:t>
            </a:r>
            <a:r>
              <a:rPr lang="en-US" sz="2600" dirty="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den </a:t>
            </a:r>
            <a:r>
              <a:rPr lang="en-US" sz="2600" dirty="0" err="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kullandıklarımız</a:t>
            </a:r>
            <a:r>
              <a:rPr lang="en-US" sz="2600" dirty="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:</a:t>
            </a:r>
          </a:p>
          <a:p>
            <a:pPr algn="l">
              <a:lnSpc>
                <a:spcPts val="3640"/>
              </a:lnSpc>
            </a:pPr>
            <a:endParaRPr lang="en-US" sz="2600" dirty="0">
              <a:solidFill>
                <a:srgbClr val="000000"/>
              </a:solidFill>
              <a:latin typeface="Antonio"/>
              <a:ea typeface="Antonio"/>
              <a:cs typeface="Antonio"/>
              <a:sym typeface="Antonio"/>
            </a:endParaRPr>
          </a:p>
          <a:p>
            <a:pPr algn="l">
              <a:lnSpc>
                <a:spcPts val="3640"/>
              </a:lnSpc>
            </a:pPr>
            <a:r>
              <a:rPr lang="en-US" sz="2600" dirty="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Label Encoder :  </a:t>
            </a:r>
            <a:r>
              <a:rPr lang="en-US" sz="2600" dirty="0" err="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Veriyi</a:t>
            </a:r>
            <a:r>
              <a:rPr lang="en-US" sz="2600" dirty="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makine</a:t>
            </a:r>
            <a:r>
              <a:rPr lang="en-US" sz="2600" dirty="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diline</a:t>
            </a:r>
            <a:r>
              <a:rPr lang="en-US" sz="2600" dirty="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çevirir</a:t>
            </a:r>
            <a:r>
              <a:rPr lang="en-US" sz="2600" dirty="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.</a:t>
            </a:r>
          </a:p>
          <a:p>
            <a:pPr algn="l">
              <a:lnSpc>
                <a:spcPts val="3640"/>
              </a:lnSpc>
            </a:pPr>
            <a:r>
              <a:rPr lang="en-US" sz="26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Model "Antony", "Messi" </a:t>
            </a:r>
            <a:r>
              <a:rPr lang="en-US" sz="26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gibi</a:t>
            </a:r>
            <a:r>
              <a:rPr lang="en-US" sz="26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kelimelerden</a:t>
            </a:r>
            <a:r>
              <a:rPr lang="en-US" sz="26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anlamaz</a:t>
            </a:r>
            <a:r>
              <a:rPr lang="en-US" sz="26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. Bu </a:t>
            </a:r>
            <a:r>
              <a:rPr lang="en-US" sz="26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araç</a:t>
            </a:r>
            <a:r>
              <a:rPr lang="en-US" sz="26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, </a:t>
            </a:r>
            <a:r>
              <a:rPr lang="en-US" sz="26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isimleri</a:t>
            </a:r>
            <a:r>
              <a:rPr lang="en-US" sz="26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0, 1, 2 </a:t>
            </a:r>
            <a:r>
              <a:rPr lang="en-US" sz="26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gibi</a:t>
            </a:r>
            <a:r>
              <a:rPr lang="en-US" sz="26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sayılara</a:t>
            </a:r>
            <a:r>
              <a:rPr lang="en-US" sz="26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(</a:t>
            </a:r>
            <a:r>
              <a:rPr lang="en-US" sz="26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kodlara</a:t>
            </a:r>
            <a:r>
              <a:rPr lang="en-US" sz="26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) </a:t>
            </a:r>
            <a:r>
              <a:rPr lang="en-US" sz="26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dönüştürür</a:t>
            </a:r>
            <a:r>
              <a:rPr lang="en-US" sz="26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ve</a:t>
            </a:r>
            <a:r>
              <a:rPr lang="en-US" sz="26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tahmin</a:t>
            </a:r>
            <a:r>
              <a:rPr lang="en-US" sz="26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sonrası</a:t>
            </a:r>
            <a:r>
              <a:rPr lang="en-US" sz="26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tekrar</a:t>
            </a:r>
            <a:r>
              <a:rPr lang="en-US" sz="26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isme</a:t>
            </a:r>
            <a:r>
              <a:rPr lang="en-US" sz="26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çevirir</a:t>
            </a:r>
            <a:r>
              <a:rPr lang="en-US" sz="26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.</a:t>
            </a:r>
          </a:p>
          <a:p>
            <a:pPr algn="l">
              <a:lnSpc>
                <a:spcPts val="3640"/>
              </a:lnSpc>
            </a:pPr>
            <a:endParaRPr lang="en-US" sz="2600" dirty="0">
              <a:solidFill>
                <a:srgbClr val="000000"/>
              </a:solidFill>
              <a:latin typeface="Forum"/>
              <a:ea typeface="Forum"/>
              <a:cs typeface="Forum"/>
              <a:sym typeface="Forum"/>
            </a:endParaRPr>
          </a:p>
          <a:p>
            <a:pPr algn="l">
              <a:lnSpc>
                <a:spcPts val="3640"/>
              </a:lnSpc>
            </a:pPr>
            <a:r>
              <a:rPr lang="en-US" sz="2600" dirty="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Support Vector Classifier (SVC) :</a:t>
            </a:r>
          </a:p>
          <a:p>
            <a:pPr algn="l">
              <a:lnSpc>
                <a:spcPts val="3640"/>
              </a:lnSpc>
            </a:pPr>
            <a:r>
              <a:rPr lang="en-US" sz="26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Çıkarılan</a:t>
            </a:r>
            <a:r>
              <a:rPr lang="en-US" sz="26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yüz</a:t>
            </a:r>
            <a:r>
              <a:rPr lang="en-US" sz="26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verilerini</a:t>
            </a:r>
            <a:r>
              <a:rPr lang="en-US" sz="26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(embedding) </a:t>
            </a:r>
            <a:r>
              <a:rPr lang="en-US" sz="26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ve</a:t>
            </a:r>
            <a:r>
              <a:rPr lang="en-US" sz="26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etiketleri</a:t>
            </a:r>
            <a:r>
              <a:rPr lang="en-US" sz="26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(</a:t>
            </a:r>
            <a:r>
              <a:rPr lang="en-US" sz="26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isimleri</a:t>
            </a:r>
            <a:r>
              <a:rPr lang="en-US" sz="26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) </a:t>
            </a:r>
            <a:r>
              <a:rPr lang="en-US" sz="26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alarak</a:t>
            </a:r>
            <a:r>
              <a:rPr lang="en-US" sz="26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öğrenme</a:t>
            </a:r>
            <a:r>
              <a:rPr lang="en-US" sz="26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işlemini</a:t>
            </a:r>
            <a:r>
              <a:rPr lang="en-US" sz="26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gerçekleştirir</a:t>
            </a:r>
            <a:r>
              <a:rPr lang="en-US" sz="26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(</a:t>
            </a:r>
            <a:r>
              <a:rPr lang="en-US" sz="26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model.fit</a:t>
            </a:r>
            <a:r>
              <a:rPr lang="en-US" sz="26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). </a:t>
            </a:r>
          </a:p>
          <a:p>
            <a:pPr algn="l">
              <a:lnSpc>
                <a:spcPts val="3640"/>
              </a:lnSpc>
            </a:pPr>
            <a:r>
              <a:rPr lang="en-US" sz="26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Yeni </a:t>
            </a:r>
            <a:r>
              <a:rPr lang="en-US" sz="26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bir</a:t>
            </a:r>
            <a:r>
              <a:rPr lang="en-US" sz="26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yüz</a:t>
            </a:r>
            <a:r>
              <a:rPr lang="en-US" sz="26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geldiğinde</a:t>
            </a:r>
            <a:r>
              <a:rPr lang="en-US" sz="26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kime</a:t>
            </a:r>
            <a:r>
              <a:rPr lang="en-US" sz="26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ait</a:t>
            </a:r>
            <a:r>
              <a:rPr lang="en-US" sz="26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olduğunu</a:t>
            </a:r>
            <a:r>
              <a:rPr lang="en-US" sz="26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tahmin</a:t>
            </a:r>
            <a:r>
              <a:rPr lang="en-US" sz="26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eder</a:t>
            </a:r>
            <a:r>
              <a:rPr lang="en-US" sz="26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.</a:t>
            </a:r>
          </a:p>
          <a:p>
            <a:pPr algn="l">
              <a:lnSpc>
                <a:spcPts val="3640"/>
              </a:lnSpc>
            </a:pPr>
            <a:endParaRPr lang="en-US" sz="2600" dirty="0">
              <a:solidFill>
                <a:srgbClr val="000000"/>
              </a:solidFill>
              <a:latin typeface="Forum"/>
              <a:ea typeface="Forum"/>
              <a:cs typeface="Forum"/>
              <a:sym typeface="Forum"/>
            </a:endParaRPr>
          </a:p>
          <a:p>
            <a:pPr algn="l">
              <a:lnSpc>
                <a:spcPts val="3640"/>
              </a:lnSpc>
            </a:pPr>
            <a:r>
              <a:rPr lang="en-US" sz="2600" dirty="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(</a:t>
            </a:r>
            <a:r>
              <a:rPr lang="en-US" sz="2600" dirty="0" err="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classification_report</a:t>
            </a:r>
            <a:r>
              <a:rPr lang="en-US" sz="2600" dirty="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, </a:t>
            </a:r>
            <a:r>
              <a:rPr lang="en-US" sz="2600" dirty="0" err="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accuracy_score</a:t>
            </a:r>
            <a:r>
              <a:rPr lang="en-US" sz="2600" dirty="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) : </a:t>
            </a:r>
            <a:r>
              <a:rPr lang="en-US" sz="2600" dirty="0" err="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Performansı</a:t>
            </a:r>
            <a:r>
              <a:rPr lang="en-US" sz="2600" dirty="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ölçer</a:t>
            </a:r>
            <a:endParaRPr lang="en-US" sz="2600" dirty="0">
              <a:solidFill>
                <a:srgbClr val="000000"/>
              </a:solidFill>
              <a:latin typeface="Antonio"/>
              <a:ea typeface="Antonio"/>
              <a:cs typeface="Antonio"/>
              <a:sym typeface="Antonio"/>
            </a:endParaRPr>
          </a:p>
          <a:p>
            <a:pPr algn="l">
              <a:lnSpc>
                <a:spcPts val="3640"/>
              </a:lnSpc>
            </a:pPr>
            <a:r>
              <a:rPr lang="en-US" sz="26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Modelin</a:t>
            </a:r>
            <a:r>
              <a:rPr lang="en-US" sz="26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ne </a:t>
            </a:r>
            <a:r>
              <a:rPr lang="en-US" sz="26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kadar</a:t>
            </a:r>
            <a:r>
              <a:rPr lang="en-US" sz="26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başarılı</a:t>
            </a:r>
            <a:r>
              <a:rPr lang="en-US" sz="26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olduğunu</a:t>
            </a:r>
            <a:r>
              <a:rPr lang="en-US" sz="26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, </a:t>
            </a:r>
            <a:r>
              <a:rPr lang="en-US" sz="26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eğitim</a:t>
            </a:r>
            <a:r>
              <a:rPr lang="en-US" sz="26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bittikten</a:t>
            </a:r>
            <a:r>
              <a:rPr lang="en-US" sz="26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sonra</a:t>
            </a:r>
            <a:r>
              <a:rPr lang="en-US" sz="26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matematiksel</a:t>
            </a:r>
            <a:r>
              <a:rPr lang="en-US" sz="26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olarak</a:t>
            </a:r>
            <a:r>
              <a:rPr lang="en-US" sz="26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raporlar</a:t>
            </a:r>
            <a:r>
              <a:rPr lang="en-US" sz="26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(</a:t>
            </a:r>
            <a:r>
              <a:rPr lang="en-US" sz="26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Doğruluk</a:t>
            </a:r>
            <a:r>
              <a:rPr lang="en-US" sz="26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oranı</a:t>
            </a:r>
            <a:r>
              <a:rPr lang="en-US" sz="26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, </a:t>
            </a:r>
            <a:r>
              <a:rPr lang="en-US" sz="26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Hassasiyet</a:t>
            </a:r>
            <a:r>
              <a:rPr lang="en-US" sz="26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vb.).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62025"/>
            <a:ext cx="5981700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Veri </a:t>
            </a:r>
            <a:r>
              <a:rPr lang="en-US" sz="3399" dirty="0" err="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mühendisliği</a:t>
            </a:r>
            <a:r>
              <a:rPr lang="en-US" sz="3399" dirty="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ve</a:t>
            </a:r>
            <a:r>
              <a:rPr lang="en-US" sz="3399" dirty="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hazırlık</a:t>
            </a:r>
            <a:r>
              <a:rPr lang="en-US" sz="3399" dirty="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süreci</a:t>
            </a:r>
            <a:r>
              <a:rPr lang="en-US" sz="3399" dirty="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844287"/>
            <a:ext cx="14516100" cy="4719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Ham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veri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kaynağımız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,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internetten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topladığımız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belirli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futbolcuların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farklı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açılardan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çekilen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fotoğrafları</a:t>
            </a:r>
            <a:endParaRPr lang="en-US" sz="2800" dirty="0">
              <a:solidFill>
                <a:srgbClr val="000000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2656065"/>
            <a:ext cx="4076700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Akıllı </a:t>
            </a:r>
            <a:r>
              <a:rPr lang="en-US" sz="3399" dirty="0" err="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yüz</a:t>
            </a:r>
            <a:r>
              <a:rPr lang="en-US" sz="3399" dirty="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kırpma</a:t>
            </a:r>
            <a:r>
              <a:rPr lang="en-US" sz="3399" dirty="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süreci</a:t>
            </a:r>
            <a:r>
              <a:rPr lang="en-US" sz="3399" dirty="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616960"/>
            <a:ext cx="12834170" cy="297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Resimler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önce</a:t>
            </a:r>
            <a:r>
              <a:rPr lang="tr-TR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yüz tespiti için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Haar Cascade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algoritması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ile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tarat</a:t>
            </a:r>
            <a:r>
              <a:rPr lang="tr-TR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ı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ldı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.</a:t>
            </a:r>
          </a:p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Doğruluğu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arttırmak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adına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Haar Cascade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göz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tespiti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algoritması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ile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de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taratıldı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.</a:t>
            </a:r>
          </a:p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Padding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Stratejisi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: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Yüz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hatlarının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kaybolmaması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için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tespit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edilen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alan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%15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oranında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genişletilerek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kırpıldı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.</a:t>
            </a:r>
          </a:p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Sonuç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: “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cropped_faces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”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klasöründe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sadece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temiz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ve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işlenmeye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hazır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yüz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verileri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oluşturuldu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62025"/>
            <a:ext cx="536331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Öznitelik Çıkarımı: Yüzden Sayıya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979319"/>
            <a:ext cx="10987832" cy="995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Dijital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Kimlik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(Embedding):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Bilgisayarlar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resimleri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göremez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,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sayıları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görür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. </a:t>
            </a:r>
          </a:p>
          <a:p>
            <a:pPr algn="l">
              <a:lnSpc>
                <a:spcPts val="3920"/>
              </a:lnSpc>
            </a:pP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Bu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aşamada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her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yüz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görüntüsü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matematiksel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bir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forma </a:t>
            </a:r>
            <a:r>
              <a:rPr lang="tr-TR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dönüştürüldü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413149"/>
            <a:ext cx="13526988" cy="995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3" lvl="1" indent="-302261" algn="ctr">
              <a:lnSpc>
                <a:spcPts val="392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HOG (Histogram of Oriented Gradients):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Yüzdeki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ışık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ve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gölge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değişimlerini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analiz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ederek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</a:p>
          <a:p>
            <a:pPr algn="l">
              <a:lnSpc>
                <a:spcPts val="3920"/>
              </a:lnSpc>
            </a:pP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yüzün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haritasını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çıkaran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yöntem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tr-TR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kullanıldı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4846979"/>
            <a:ext cx="14929396" cy="995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128 Boyutlu Vektör: Her bir futbolcunun yüzü, onu benzersiz kılan 128 farklı sayısal değerden oluşan 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bir diziye (vektör) kodlanmıştır. Modelimiz resimleri değil, bu sayısal dizileri  öğrenmektedir.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62025"/>
            <a:ext cx="7124700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 err="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Makine</a:t>
            </a:r>
            <a:r>
              <a:rPr lang="en-US" sz="3399" dirty="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Öğrenmesi</a:t>
            </a:r>
            <a:r>
              <a:rPr lang="en-US" sz="3399" dirty="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Mimarisi</a:t>
            </a:r>
            <a:r>
              <a:rPr lang="en-US" sz="3399" dirty="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(Model </a:t>
            </a:r>
            <a:r>
              <a:rPr lang="en-US" sz="3399" dirty="0" err="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Yapısı</a:t>
            </a:r>
            <a:r>
              <a:rPr lang="en-US" sz="3399" dirty="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) 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856227"/>
            <a:ext cx="12153900" cy="4719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23" lvl="1" indent="-302261" algn="ctr">
              <a:lnSpc>
                <a:spcPts val="3920"/>
              </a:lnSpc>
              <a:buFont typeface="Arial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Seçtiğimiz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Algoritma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: Destek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Vektör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Makineleri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(SVM - Support Vector Machine).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670932"/>
            <a:ext cx="10172700" cy="995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Neden SVM :  Yüz verileri gibi yüksek boyutlu (128-d) uzaylarda 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sınıfları birbirinden ayırmak için en etkili ve hızlı yöntemlerden biridir.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980936"/>
            <a:ext cx="13054757" cy="995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23" lvl="1" indent="-302261" algn="ctr">
              <a:lnSpc>
                <a:spcPts val="392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Kernel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Ayarı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: Linear (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Doğrusal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) Kernel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kullanılarak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veriler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arasında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net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bir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ayrım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çizgisi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(hyperplane) </a:t>
            </a:r>
            <a:r>
              <a:rPr lang="tr-TR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oluşturur.</a:t>
            </a:r>
            <a:endParaRPr lang="en-US" sz="2800" dirty="0">
              <a:solidFill>
                <a:srgbClr val="000000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5290941"/>
            <a:ext cx="14568636" cy="9720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62" lvl="1" algn="ctr">
              <a:lnSpc>
                <a:spcPts val="3920"/>
              </a:lnSpc>
            </a:pP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Olasılıksal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Yaklaşım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: Model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sadece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"Bu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Antony'dir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"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demez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; probability=True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parametresi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sayesinde</a:t>
            </a:r>
            <a:endParaRPr lang="en-US" sz="2800" dirty="0">
              <a:solidFill>
                <a:srgbClr val="000000"/>
              </a:solidFill>
              <a:latin typeface="Forum"/>
              <a:ea typeface="Forum"/>
              <a:cs typeface="Forum"/>
              <a:sym typeface="Forum"/>
            </a:endParaRPr>
          </a:p>
          <a:p>
            <a:pPr algn="l">
              <a:lnSpc>
                <a:spcPts val="3920"/>
              </a:lnSpc>
            </a:pP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"Bu %85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ihtimalle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Antony'dir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"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şeklinde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güven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skoru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üretir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35397" y="962025"/>
            <a:ext cx="4520208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Performans Analizi ve Test :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067242"/>
            <a:ext cx="12534900" cy="4719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23" lvl="1" indent="-302261" algn="ctr">
              <a:lnSpc>
                <a:spcPts val="392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Model,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daha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önce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hiç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görmediği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football_stars_test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veri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seti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üzerinde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tr-TR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denendi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823381"/>
            <a:ext cx="15049500" cy="2481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920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Başarı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Metrikleri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:</a:t>
            </a:r>
          </a:p>
          <a:p>
            <a:pPr marL="604523" lvl="1" indent="-302261" algn="just">
              <a:lnSpc>
                <a:spcPts val="3920"/>
              </a:lnSpc>
              <a:buFont typeface="Arial"/>
              <a:buChar char="•"/>
            </a:pPr>
            <a:r>
              <a:rPr lang="en-US" sz="2800" dirty="0">
                <a:solidFill>
                  <a:srgbClr val="FF3131"/>
                </a:solidFill>
                <a:latin typeface="Forum"/>
                <a:ea typeface="Forum"/>
                <a:cs typeface="Forum"/>
                <a:sym typeface="Forum"/>
              </a:rPr>
              <a:t>Accuracy Score: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Genel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doğruluk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oranı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.</a:t>
            </a:r>
          </a:p>
          <a:p>
            <a:pPr marL="604523" lvl="1" indent="-302261" algn="just">
              <a:lnSpc>
                <a:spcPts val="3920"/>
              </a:lnSpc>
              <a:buFont typeface="Arial"/>
              <a:buChar char="•"/>
            </a:pPr>
            <a:r>
              <a:rPr lang="en-US" sz="2800" dirty="0">
                <a:solidFill>
                  <a:srgbClr val="FF3131"/>
                </a:solidFill>
                <a:latin typeface="Forum"/>
                <a:ea typeface="Forum"/>
                <a:cs typeface="Forum"/>
                <a:sym typeface="Forum"/>
              </a:rPr>
              <a:t>Classification Report: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Her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futbolcu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için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ayrı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ayrı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FF3131"/>
                </a:solidFill>
                <a:latin typeface="Forum"/>
                <a:ea typeface="Forum"/>
                <a:cs typeface="Forum"/>
                <a:sym typeface="Forum"/>
              </a:rPr>
              <a:t>Hassasiyet</a:t>
            </a:r>
            <a:r>
              <a:rPr lang="en-US" sz="2800" dirty="0">
                <a:solidFill>
                  <a:srgbClr val="FF3131"/>
                </a:solidFill>
                <a:latin typeface="Forum"/>
                <a:ea typeface="Forum"/>
                <a:cs typeface="Forum"/>
                <a:sym typeface="Forum"/>
              </a:rPr>
              <a:t> (Precision)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ve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FF3131"/>
                </a:solidFill>
                <a:latin typeface="Forum"/>
                <a:ea typeface="Forum"/>
                <a:cs typeface="Forum"/>
                <a:sym typeface="Forum"/>
              </a:rPr>
              <a:t>Duyarlılık</a:t>
            </a:r>
            <a:r>
              <a:rPr lang="en-US" sz="2800" dirty="0">
                <a:solidFill>
                  <a:srgbClr val="FF3131"/>
                </a:solidFill>
                <a:latin typeface="Forum"/>
                <a:ea typeface="Forum"/>
                <a:cs typeface="Forum"/>
                <a:sym typeface="Forum"/>
              </a:rPr>
              <a:t> (Recall)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değerleri</a:t>
            </a:r>
            <a:endParaRPr lang="en-US" sz="2800" dirty="0">
              <a:solidFill>
                <a:srgbClr val="000000"/>
              </a:solidFill>
              <a:latin typeface="Forum"/>
              <a:ea typeface="Forum"/>
              <a:cs typeface="Forum"/>
              <a:sym typeface="Forum"/>
            </a:endParaRPr>
          </a:p>
          <a:p>
            <a:pPr algn="just">
              <a:lnSpc>
                <a:spcPts val="3920"/>
              </a:lnSpc>
            </a:pP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analiz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tr-TR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edildi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.</a:t>
            </a:r>
          </a:p>
          <a:p>
            <a:pPr algn="just">
              <a:lnSpc>
                <a:spcPts val="3920"/>
              </a:lnSpc>
              <a:spcBef>
                <a:spcPct val="0"/>
              </a:spcBef>
            </a:pPr>
            <a:endParaRPr lang="en-US" sz="2800" dirty="0">
              <a:solidFill>
                <a:srgbClr val="000000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5228761"/>
            <a:ext cx="15846623" cy="1490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Simülasyon :</a:t>
            </a:r>
          </a:p>
          <a:p>
            <a:pPr marL="604523" lvl="1" indent="-302261" algn="l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Sistem, tek bir fotoğraf verildiğinde (Örn: antony.jpg) yüzü bulur ve veritabanıyla eşleştirir.</a:t>
            </a:r>
          </a:p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Eğer eşleşme olasılığı 0.20 (%20) altındaysa sistem risk almaz ve kişiyi "Bilinmeyen"  olarak işaretler.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491068" y="1285558"/>
            <a:ext cx="4768232" cy="3557680"/>
          </a:xfrm>
          <a:custGeom>
            <a:avLst/>
            <a:gdLst/>
            <a:ahLst/>
            <a:cxnLst/>
            <a:rect l="l" t="t" r="r" b="b"/>
            <a:pathLst>
              <a:path w="4768232" h="3557680">
                <a:moveTo>
                  <a:pt x="0" y="0"/>
                </a:moveTo>
                <a:lnTo>
                  <a:pt x="4768232" y="0"/>
                </a:lnTo>
                <a:lnTo>
                  <a:pt x="4768232" y="3557679"/>
                </a:lnTo>
                <a:lnTo>
                  <a:pt x="0" y="35576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Freeform 3"/>
          <p:cNvSpPr/>
          <p:nvPr/>
        </p:nvSpPr>
        <p:spPr>
          <a:xfrm>
            <a:off x="10947226" y="5982535"/>
            <a:ext cx="6312074" cy="3275765"/>
          </a:xfrm>
          <a:custGeom>
            <a:avLst/>
            <a:gdLst/>
            <a:ahLst/>
            <a:cxnLst/>
            <a:rect l="l" t="t" r="r" b="b"/>
            <a:pathLst>
              <a:path w="6312074" h="3275765">
                <a:moveTo>
                  <a:pt x="0" y="0"/>
                </a:moveTo>
                <a:lnTo>
                  <a:pt x="6312074" y="0"/>
                </a:lnTo>
                <a:lnTo>
                  <a:pt x="6312074" y="3275765"/>
                </a:lnTo>
                <a:lnTo>
                  <a:pt x="0" y="32757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4" name="TextBox 4"/>
          <p:cNvSpPr txBox="1"/>
          <p:nvPr/>
        </p:nvSpPr>
        <p:spPr>
          <a:xfrm>
            <a:off x="917228" y="962025"/>
            <a:ext cx="4188172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Sonuç ve Görselleştirme 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7228" y="2033158"/>
            <a:ext cx="9417661" cy="1986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Çıktı Örneği:</a:t>
            </a:r>
          </a:p>
          <a:p>
            <a:pPr marL="604523" lvl="1" indent="-302261" algn="just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İşlenmiş görüntü üzerinde yeşil kutucuk (Bounding Box) içerisinde oyuncunun ismi ve modelin güven oranı yazdırılır</a:t>
            </a:r>
          </a:p>
          <a:p>
            <a:pPr algn="just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     (Örn: Antony 0.29)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8611" y="4767037"/>
            <a:ext cx="9874895" cy="2972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20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Kazanımlarımız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:</a:t>
            </a:r>
          </a:p>
          <a:p>
            <a:pPr marL="604523" lvl="1" indent="-302261" algn="just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Manuel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etiketlemeye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göre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çok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daha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hızlı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işlem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.</a:t>
            </a:r>
          </a:p>
          <a:p>
            <a:pPr marL="604523" lvl="1" indent="-302261" algn="just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Göz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tespiti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filtresi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sayesinde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hatalı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yüz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bulma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oranını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düşürdük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.</a:t>
            </a:r>
          </a:p>
          <a:p>
            <a:pPr marL="604523" lvl="1" indent="-302261" algn="just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Ölçeklenebilir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(yeni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futbolcu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veya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kişiler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için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eklenebilir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) </a:t>
            </a:r>
            <a:endParaRPr lang="tr-TR" sz="2800" dirty="0">
              <a:solidFill>
                <a:srgbClr val="000000"/>
              </a:solidFill>
              <a:latin typeface="Forum"/>
              <a:ea typeface="Forum"/>
              <a:cs typeface="Forum"/>
              <a:sym typeface="Forum"/>
            </a:endParaRPr>
          </a:p>
          <a:p>
            <a:pPr marL="302262" lvl="1" algn="just">
              <a:lnSpc>
                <a:spcPts val="3920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yapı</a:t>
            </a:r>
            <a:r>
              <a:rPr lang="tr-TR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elde ettik</a:t>
            </a:r>
            <a:r>
              <a:rPr lang="en-US" sz="2800" dirty="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.</a:t>
            </a:r>
          </a:p>
          <a:p>
            <a:pPr algn="just">
              <a:lnSpc>
                <a:spcPts val="3920"/>
              </a:lnSpc>
              <a:spcBef>
                <a:spcPct val="0"/>
              </a:spcBef>
            </a:pPr>
            <a:endParaRPr lang="en-US" sz="2800" dirty="0">
              <a:solidFill>
                <a:srgbClr val="000000"/>
              </a:solidFill>
              <a:latin typeface="Forum"/>
              <a:ea typeface="Forum"/>
              <a:cs typeface="Forum"/>
              <a:sym typeface="For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721</Words>
  <Application>Microsoft Office PowerPoint</Application>
  <PresentationFormat>Özel</PresentationFormat>
  <Paragraphs>74</Paragraphs>
  <Slides>8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13" baseType="lpstr">
      <vt:lpstr>Antonio</vt:lpstr>
      <vt:lpstr>Calibri</vt:lpstr>
      <vt:lpstr>Arial</vt:lpstr>
      <vt:lpstr>Forum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Yapay Zeka ve Veri Mühendisliği Dersin adı : İşletim Sistemi Teknolojileri Porje Konusu : Senkronizasyon ve Kilitleme Mekanizmaları</dc:title>
  <cp:lastModifiedBy>YIGIT OZER</cp:lastModifiedBy>
  <cp:revision>20</cp:revision>
  <dcterms:created xsi:type="dcterms:W3CDTF">2006-08-16T00:00:00Z</dcterms:created>
  <dcterms:modified xsi:type="dcterms:W3CDTF">2025-12-22T18:18:25Z</dcterms:modified>
  <dc:identifier>DAG8QApCD28</dc:identifier>
</cp:coreProperties>
</file>